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77f68cdecf4383" /><Relationship Type="http://schemas.openxmlformats.org/officeDocument/2006/relationships/extended-properties" Target="/docProps/app.xml" Id="R0beee2a9299841f5" /><Relationship Type="http://schemas.openxmlformats.org/officeDocument/2006/relationships/officeDocument" Target="/ppt/presentation.xml" Id="Re2e18c757a0d44fb" /></Relationships>
</file>

<file path=ppt/presentation.xml><?xml version="1.0" encoding="utf-8"?>
<p:presentation xmlns:p="http://schemas.openxmlformats.org/presentationml/2006/main">
  <p:sldMasterIdLst>
    <p:sldMasterId xmlns:r="http://schemas.openxmlformats.org/officeDocument/2006/relationships" id="2147483648" r:id="R30eca31fa2d345a9"/>
  </p:sldMasterIdLst>
  <p:notesMasterIdLst>
    <p:notesMasterId xmlns:r="http://schemas.openxmlformats.org/officeDocument/2006/relationships" r:id="R2213c9eb91a04816"/>
  </p:notesMasterIdLst>
  <p:sldIdLst>
    <p:sldId xmlns:r="http://schemas.openxmlformats.org/officeDocument/2006/relationships" id="256" r:id="R2930003d208341fa"/>
    <p:sldId xmlns:r="http://schemas.openxmlformats.org/officeDocument/2006/relationships" id="257" r:id="R8e42243b12204b60"/>
    <p:sldId xmlns:r="http://schemas.openxmlformats.org/officeDocument/2006/relationships" id="258" r:id="Rdac9d21e587b4c02"/>
    <p:sldId xmlns:r="http://schemas.openxmlformats.org/officeDocument/2006/relationships" id="259" r:id="Rc24fad6ae7104218"/>
    <p:sldId xmlns:r="http://schemas.openxmlformats.org/officeDocument/2006/relationships" id="260" r:id="R64659b224be24cdb"/>
    <p:sldId xmlns:r="http://schemas.openxmlformats.org/officeDocument/2006/relationships" id="261" r:id="R532ca9f5489a4cd7"/>
    <p:sldId xmlns:r="http://schemas.openxmlformats.org/officeDocument/2006/relationships" id="262" r:id="Rec52bb597d224ea6"/>
    <p:sldId xmlns:r="http://schemas.openxmlformats.org/officeDocument/2006/relationships" id="263" r:id="Rfba6cde6b60447ba"/>
    <p:sldId xmlns:r="http://schemas.openxmlformats.org/officeDocument/2006/relationships" id="264" r:id="Ra663208dd90d40c0"/>
    <p:sldId xmlns:r="http://schemas.openxmlformats.org/officeDocument/2006/relationships" id="265" r:id="Rffca898b00ca4159"/>
    <p:sldId xmlns:r="http://schemas.openxmlformats.org/officeDocument/2006/relationships" id="266" r:id="R3b577f872ee84936"/>
    <p:sldId xmlns:r="http://schemas.openxmlformats.org/officeDocument/2006/relationships" id="267" r:id="Rbe691f0d2d8d4bdb"/>
    <p:sldId xmlns:r="http://schemas.openxmlformats.org/officeDocument/2006/relationships" id="268" r:id="Rcef7994e5a3841c1"/>
    <p:sldId xmlns:r="http://schemas.openxmlformats.org/officeDocument/2006/relationships" id="269" r:id="Rcdee4517e18e463c"/>
    <p:sldId xmlns:r="http://schemas.openxmlformats.org/officeDocument/2006/relationships" id="270" r:id="Re43e41101de1407c"/>
    <p:sldId xmlns:r="http://schemas.openxmlformats.org/officeDocument/2006/relationships" id="271" r:id="R859f049a877642f8"/>
    <p:sldId xmlns:r="http://schemas.openxmlformats.org/officeDocument/2006/relationships" id="272" r:id="Rd1d767722bc94e78"/>
    <p:sldId xmlns:r="http://schemas.openxmlformats.org/officeDocument/2006/relationships" id="273" r:id="R3a91bf4ae3bf4f48"/>
    <p:sldId xmlns:r="http://schemas.openxmlformats.org/officeDocument/2006/relationships" id="274" r:id="R7a4124cfec2949db"/>
    <p:sldId xmlns:r="http://schemas.openxmlformats.org/officeDocument/2006/relationships" id="275" r:id="R404d390af13f448c"/>
    <p:sldId xmlns:r="http://schemas.openxmlformats.org/officeDocument/2006/relationships" id="276" r:id="Rd2613635ffba424f"/>
    <p:sldId xmlns:r="http://schemas.openxmlformats.org/officeDocument/2006/relationships" id="277" r:id="R9c784b20fbf64603"/>
    <p:sldId xmlns:r="http://schemas.openxmlformats.org/officeDocument/2006/relationships" id="278" r:id="R8a76652cea2d4572"/>
    <p:sldId xmlns:r="http://schemas.openxmlformats.org/officeDocument/2006/relationships" id="279" r:id="R46d737ad8460489c"/>
    <p:sldId xmlns:r="http://schemas.openxmlformats.org/officeDocument/2006/relationships" id="280" r:id="R6e516d35c6cb465b"/>
    <p:sldId xmlns:r="http://schemas.openxmlformats.org/officeDocument/2006/relationships" id="281" r:id="Rb21f891cf4f24726"/>
    <p:sldId xmlns:r="http://schemas.openxmlformats.org/officeDocument/2006/relationships" id="282" r:id="Re8d3253143f54e30"/>
    <p:sldId xmlns:r="http://schemas.openxmlformats.org/officeDocument/2006/relationships" id="283" r:id="R0f344738af6f4445"/>
    <p:sldId xmlns:r="http://schemas.openxmlformats.org/officeDocument/2006/relationships" id="284" r:id="Rf950db2debe1484a"/>
    <p:sldId xmlns:r="http://schemas.openxmlformats.org/officeDocument/2006/relationships" id="285" r:id="R04060a48353149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073d8400a774e0c" /><Relationship Type="http://schemas.openxmlformats.org/officeDocument/2006/relationships/slideMaster" Target="/ppt/slideMasters/slideMaster1.xml" Id="R30eca31fa2d345a9" /><Relationship Type="http://schemas.openxmlformats.org/officeDocument/2006/relationships/notesMaster" Target="/ppt/notesMasters/notesMaster1.xml" Id="R2213c9eb91a04816" /><Relationship Type="http://schemas.openxmlformats.org/officeDocument/2006/relationships/presProps" Target="/ppt/presProps.xml" Id="Rddf9b124b73d49df" /><Relationship Type="http://schemas.openxmlformats.org/officeDocument/2006/relationships/viewProps" Target="/ppt/viewProps.xml" Id="R78b6d5bd7e2647d3" /><Relationship Type="http://schemas.openxmlformats.org/officeDocument/2006/relationships/tableStyles" Target="/ppt/tableStyles.xml" Id="R82340bd2f6fc43b6" /><Relationship Type="http://schemas.openxmlformats.org/officeDocument/2006/relationships/slide" Target="/ppt/slides/slide1.xml" Id="R2930003d208341fa" /><Relationship Type="http://schemas.openxmlformats.org/officeDocument/2006/relationships/slide" Target="/ppt/slides/slide2.xml" Id="R8e42243b12204b60" /><Relationship Type="http://schemas.openxmlformats.org/officeDocument/2006/relationships/slide" Target="/ppt/slides/slide3.xml" Id="Rdac9d21e587b4c02" /><Relationship Type="http://schemas.openxmlformats.org/officeDocument/2006/relationships/slide" Target="/ppt/slides/slide4.xml" Id="Rc24fad6ae7104218" /><Relationship Type="http://schemas.openxmlformats.org/officeDocument/2006/relationships/slide" Target="/ppt/slides/slide5.xml" Id="R64659b224be24cdb" /><Relationship Type="http://schemas.openxmlformats.org/officeDocument/2006/relationships/slide" Target="/ppt/slides/slide6.xml" Id="R532ca9f5489a4cd7" /><Relationship Type="http://schemas.openxmlformats.org/officeDocument/2006/relationships/slide" Target="/ppt/slides/slide7.xml" Id="Rec52bb597d224ea6" /><Relationship Type="http://schemas.openxmlformats.org/officeDocument/2006/relationships/slide" Target="/ppt/slides/slide8.xml" Id="Rfba6cde6b60447ba" /><Relationship Type="http://schemas.openxmlformats.org/officeDocument/2006/relationships/slide" Target="/ppt/slides/slide9.xml" Id="Ra663208dd90d40c0" /><Relationship Type="http://schemas.openxmlformats.org/officeDocument/2006/relationships/slide" Target="/ppt/slides/slide10.xml" Id="Rffca898b00ca4159" /><Relationship Type="http://schemas.openxmlformats.org/officeDocument/2006/relationships/slide" Target="/ppt/slides/slide11.xml" Id="R3b577f872ee84936" /><Relationship Type="http://schemas.openxmlformats.org/officeDocument/2006/relationships/slide" Target="/ppt/slides/slide12.xml" Id="Rbe691f0d2d8d4bdb" /><Relationship Type="http://schemas.openxmlformats.org/officeDocument/2006/relationships/slide" Target="/ppt/slides/slide13.xml" Id="Rcef7994e5a3841c1" /><Relationship Type="http://schemas.openxmlformats.org/officeDocument/2006/relationships/slide" Target="/ppt/slides/slide14.xml" Id="Rcdee4517e18e463c" /><Relationship Type="http://schemas.openxmlformats.org/officeDocument/2006/relationships/slide" Target="/ppt/slides/slide15.xml" Id="Re43e41101de1407c" /><Relationship Type="http://schemas.openxmlformats.org/officeDocument/2006/relationships/slide" Target="/ppt/slides/slide16.xml" Id="R859f049a877642f8" /><Relationship Type="http://schemas.openxmlformats.org/officeDocument/2006/relationships/slide" Target="/ppt/slides/slide17.xml" Id="Rd1d767722bc94e78" /><Relationship Type="http://schemas.openxmlformats.org/officeDocument/2006/relationships/slide" Target="/ppt/slides/slide18.xml" Id="R3a91bf4ae3bf4f48" /><Relationship Type="http://schemas.openxmlformats.org/officeDocument/2006/relationships/slide" Target="/ppt/slides/slide19.xml" Id="R7a4124cfec2949db" /><Relationship Type="http://schemas.openxmlformats.org/officeDocument/2006/relationships/slide" Target="/ppt/slides/slide20.xml" Id="R404d390af13f448c" /><Relationship Type="http://schemas.openxmlformats.org/officeDocument/2006/relationships/slide" Target="/ppt/slides/slide21.xml" Id="Rd2613635ffba424f" /><Relationship Type="http://schemas.openxmlformats.org/officeDocument/2006/relationships/slide" Target="/ppt/slides/slide22.xml" Id="R9c784b20fbf64603" /><Relationship Type="http://schemas.openxmlformats.org/officeDocument/2006/relationships/slide" Target="/ppt/slides/slide23.xml" Id="R8a76652cea2d4572" /><Relationship Type="http://schemas.openxmlformats.org/officeDocument/2006/relationships/slide" Target="/ppt/slides/slide24.xml" Id="R46d737ad8460489c" /><Relationship Type="http://schemas.openxmlformats.org/officeDocument/2006/relationships/slide" Target="/ppt/slides/slide25.xml" Id="R6e516d35c6cb465b" /><Relationship Type="http://schemas.openxmlformats.org/officeDocument/2006/relationships/slide" Target="/ppt/slides/slide26.xml" Id="Rb21f891cf4f24726" /><Relationship Type="http://schemas.openxmlformats.org/officeDocument/2006/relationships/slide" Target="/ppt/slides/slide27.xml" Id="Re8d3253143f54e30" /><Relationship Type="http://schemas.openxmlformats.org/officeDocument/2006/relationships/slide" Target="/ppt/slides/slide28.xml" Id="R0f344738af6f4445" /><Relationship Type="http://schemas.openxmlformats.org/officeDocument/2006/relationships/slide" Target="/ppt/slides/slide29.xml" Id="Rf950db2debe1484a" /><Relationship Type="http://schemas.openxmlformats.org/officeDocument/2006/relationships/slide" Target="/ppt/slides/slide30.xml" Id="R04060a48353149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9f6b0ba6ad45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126b108a1c4c9f" /><Relationship Type="http://schemas.openxmlformats.org/officeDocument/2006/relationships/notesMaster" Target="/ppt/notesMasters/notesMaster1.xml" Id="R9532245ec15540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25bc9f81294041" /><Relationship Type="http://schemas.openxmlformats.org/officeDocument/2006/relationships/notesMaster" Target="/ppt/notesMasters/notesMaster1.xml" Id="Re9d8f404001243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dce5ebdda64697" /><Relationship Type="http://schemas.openxmlformats.org/officeDocument/2006/relationships/notesMaster" Target="/ppt/notesMasters/notesMaster1.xml" Id="Re9eb21ff02914d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72bcb485944c55" /><Relationship Type="http://schemas.openxmlformats.org/officeDocument/2006/relationships/notesMaster" Target="/ppt/notesMasters/notesMaster1.xml" Id="Re53d2b30124b46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d7bca5561e4b92" /><Relationship Type="http://schemas.openxmlformats.org/officeDocument/2006/relationships/notesMaster" Target="/ppt/notesMasters/notesMaster1.xml" Id="Recd882a39fd145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de3b2c88344601" /><Relationship Type="http://schemas.openxmlformats.org/officeDocument/2006/relationships/notesMaster" Target="/ppt/notesMasters/notesMaster1.xml" Id="Rc12eea03d5854e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f525056ab145c3" /><Relationship Type="http://schemas.openxmlformats.org/officeDocument/2006/relationships/notesMaster" Target="/ppt/notesMasters/notesMaster1.xml" Id="R691156132a784e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1efb7bacf5445a" /><Relationship Type="http://schemas.openxmlformats.org/officeDocument/2006/relationships/notesMaster" Target="/ppt/notesMasters/notesMaster1.xml" Id="Rbed3d6ec39824a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82d3d9c33e49e7" /><Relationship Type="http://schemas.openxmlformats.org/officeDocument/2006/relationships/notesMaster" Target="/ppt/notesMasters/notesMaster1.xml" Id="Rd2d8da544c064b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0a9b7482584432" /><Relationship Type="http://schemas.openxmlformats.org/officeDocument/2006/relationships/notesMaster" Target="/ppt/notesMasters/notesMaster1.xml" Id="R8e163369e84149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6cd0794ff54565" /><Relationship Type="http://schemas.openxmlformats.org/officeDocument/2006/relationships/notesMaster" Target="/ppt/notesMasters/notesMaster1.xml" Id="R43b7e4656df641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da8c75335444e7" /><Relationship Type="http://schemas.openxmlformats.org/officeDocument/2006/relationships/notesMaster" Target="/ppt/notesMasters/notesMaster1.xml" Id="Rb0749430f14b4a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f591157da44c06" /><Relationship Type="http://schemas.openxmlformats.org/officeDocument/2006/relationships/notesMaster" Target="/ppt/notesMasters/notesMaster1.xml" Id="R748b8cdb6e244c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02d905548da4860" /><Relationship Type="http://schemas.openxmlformats.org/officeDocument/2006/relationships/notesMaster" Target="/ppt/notesMasters/notesMaster1.xml" Id="R1eb475edc40649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87185c865042e6" /><Relationship Type="http://schemas.openxmlformats.org/officeDocument/2006/relationships/notesMaster" Target="/ppt/notesMasters/notesMaster1.xml" Id="R72ce841f9a6642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d4afd164574010" /><Relationship Type="http://schemas.openxmlformats.org/officeDocument/2006/relationships/notesMaster" Target="/ppt/notesMasters/notesMaster1.xml" Id="Re25b6d0b8da749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d9f7c0a69746c5" /><Relationship Type="http://schemas.openxmlformats.org/officeDocument/2006/relationships/notesMaster" Target="/ppt/notesMasters/notesMaster1.xml" Id="R14a08a2127e944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9bc66d7f9648d1" /><Relationship Type="http://schemas.openxmlformats.org/officeDocument/2006/relationships/notesMaster" Target="/ppt/notesMasters/notesMaster1.xml" Id="Ra5f26fe701b847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8fb5c9ecbc742a9" /><Relationship Type="http://schemas.openxmlformats.org/officeDocument/2006/relationships/notesMaster" Target="/ppt/notesMasters/notesMaster1.xml" Id="R7bca347ef8a2405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21d4309d3db4065" /><Relationship Type="http://schemas.openxmlformats.org/officeDocument/2006/relationships/notesMaster" Target="/ppt/notesMasters/notesMaster1.xml" Id="R6b9ac4ad50234ae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3ea0439c084abf" /><Relationship Type="http://schemas.openxmlformats.org/officeDocument/2006/relationships/notesMaster" Target="/ppt/notesMasters/notesMaster1.xml" Id="R56e923ffddb042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ad447bda3f4f7a" /><Relationship Type="http://schemas.openxmlformats.org/officeDocument/2006/relationships/notesMaster" Target="/ppt/notesMasters/notesMaster1.xml" Id="Ra8feeee7ac23493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0aafe0714d34806" /><Relationship Type="http://schemas.openxmlformats.org/officeDocument/2006/relationships/notesMaster" Target="/ppt/notesMasters/notesMaster1.xml" Id="Rf7eb530e426040c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0e2e88a94d64374" /><Relationship Type="http://schemas.openxmlformats.org/officeDocument/2006/relationships/notesMaster" Target="/ppt/notesMasters/notesMaster1.xml" Id="Rac51e030c4a04e9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611680f153d4237" /><Relationship Type="http://schemas.openxmlformats.org/officeDocument/2006/relationships/notesMaster" Target="/ppt/notesMasters/notesMaster1.xml" Id="Rb72debb19a8a4d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69195797d6b4881" /><Relationship Type="http://schemas.openxmlformats.org/officeDocument/2006/relationships/notesMaster" Target="/ppt/notesMasters/notesMaster1.xml" Id="R943860bf3f424d2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0bb87dfe5b4967" /><Relationship Type="http://schemas.openxmlformats.org/officeDocument/2006/relationships/notesMaster" Target="/ppt/notesMasters/notesMaster1.xml" Id="Rd205757a04864ec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8a7d2c98bc64876" /><Relationship Type="http://schemas.openxmlformats.org/officeDocument/2006/relationships/notesMaster" Target="/ppt/notesMasters/notesMaster1.xml" Id="Rc1d5c06654464f1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e77d1cd38d4413d" /><Relationship Type="http://schemas.openxmlformats.org/officeDocument/2006/relationships/notesMaster" Target="/ppt/notesMasters/notesMaster1.xml" Id="R26a2397cc7ce492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6ef1fe3fd943c8" /><Relationship Type="http://schemas.openxmlformats.org/officeDocument/2006/relationships/notesMaster" Target="/ppt/notesMasters/notesMaster1.xml" Id="R6418f4791c0449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00–02 min. Presentación y objetivo: seguir una entrada desde HTTP hasta la evidencia y proponer una corrección en código. Anunciar que alternaremos diapositivas, navegador y editor. La implementación actual usa DVWA y evidencia HTTP. No afirmar que existe un sensor eBPF integrado.</a:t>
            </a:r>
            <a:endParaRPr/>
          </a:p>
          <a:p xmlns:a="http://schemas.openxmlformats.org/drawingml/2006/main">
            <a:r>
              <a:t/>
            </a:r>
            <a:endParaRPr/>
          </a:p>
          <a:p xmlns:a="http://schemas.openxmlformats.org/drawingml/2006/main">
            <a:r>
              <a:t>FUENTES</a:t>
            </a:r>
            <a:endParaRPr/>
          </a:p>
          <a:p xmlns:a="http://schemas.openxmlformats.org/drawingml/2006/main">
            <a:r>
              <a:t>README.md y código del proyecto. Formato y recursos de marca: presentación CEDIA/TICEC suministrada.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02–04 min. Mostrar el recorrido. Reservar los últimos diez minutos para la medición local y preguntas. Los anexos son de consulta, fuera de los 90 minutos. No dejar toda la demostración para el final. Si falta tiempo, recortar la segunda ejecución Low y conservar la lectura de evidencia y el ejercicio de remediación.</a:t>
            </a:r>
            <a:endParaRPr/>
          </a:p>
          <a:p xmlns:a="http://schemas.openxmlformats.org/drawingml/2006/main">
            <a:r>
              <a:t/>
            </a:r>
            <a:endParaRPr/>
          </a:p>
          <a:p xmlns:a="http://schemas.openxmlformats.org/drawingml/2006/main">
            <a:r>
              <a:t>FUENTES</a:t>
            </a:r>
            <a:endParaRPr/>
          </a:p>
          <a:p xmlns:a="http://schemas.openxmlformats.org/drawingml/2006/main">
            <a:r>
              <a:t>Proyecto SQLi Studio.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04–06 min. Aclarar el alcance al inicio. Distinguir resultados reales de la app y futuras ampliaciones. El título de la presentación de referencia mencionaba eBPF, pero el backend actual no conecta un sensor. El scanner externo tampoco ejecuta UNION, extracción, escrituras ni retardos.</a:t>
            </a:r>
            <a:endParaRPr/>
          </a:p>
          <a:p xmlns:a="http://schemas.openxmlformats.org/drawingml/2006/main">
            <a:r>
              <a:t/>
            </a:r>
            <a:endParaRPr/>
          </a:p>
          <a:p xmlns:a="http://schemas.openxmlformats.org/drawingml/2006/main">
            <a:r>
              <a:t>FUENTES</a:t>
            </a:r>
            <a:endParaRPr/>
          </a:p>
          <a:p xmlns:a="http://schemas.openxmlformats.org/drawingml/2006/main">
            <a:r>
              <a:t>README.md; backend/scanner/engine.go; backend/scanner/authorized.go; backend/scanner/dvwa.go.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06–08 min. Explicar que una cadena concatenada permite que un dato aporte sintaxis. Usar el ejemplo para predecir que la condición falsa puede eliminar el resultado. Es código didáctico, no una lectura del SQL remoto. Preguntar qué ocurriría si la consulta usa un parámetro enlazado.</a:t>
            </a:r>
            <a:endParaRPr/>
          </a:p>
          <a:p xmlns:a="http://schemas.openxmlformats.org/drawingml/2006/main">
            <a:r>
              <a:t/>
            </a:r>
            <a:endParaRPr/>
          </a:p>
          <a:p xmlns:a="http://schemas.openxmlformats.org/drawingml/2006/main">
            <a:r>
              <a:t>FUENTES</a:t>
            </a:r>
            <a:endParaRPr/>
          </a:p>
          <a:p xmlns:a="http://schemas.openxmlformats.org/drawingml/2006/main">
            <a:r>
              <a:t>https://go.dev/doc/database/sql-injection</a:t>
            </a:r>
            <a:endParaRPr/>
          </a:p>
          <a:p xmlns:a="http://schemas.openxmlformats.org/drawingml/2006/main">
            <a:r>
              <a:t>https://cheatsheetseries.owasp.org/cheatsheets/SQL_Injection_Prevention_Cheat_Sheet.html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08–10 min. Ambos niveles siguen siendo vulnerables en este módulo. Medium utiliza un formulario POST y escape de entrada en el código de DVWA, pero conserva un contexto numérico concatenado. No presentar Medium como aplicación reparada. Las cadenas de Low están ajustadas al SQL entre comillas. La app ofrece solo Low y Medium.</a:t>
            </a:r>
            <a:endParaRPr/>
          </a:p>
          <a:p xmlns:a="http://schemas.openxmlformats.org/drawingml/2006/main">
            <a:r>
              <a:t/>
            </a:r>
            <a:endParaRPr/>
          </a:p>
          <a:p xmlns:a="http://schemas.openxmlformats.org/drawingml/2006/main">
            <a:r>
              <a:t>FUENTES</a:t>
            </a:r>
            <a:endParaRPr/>
          </a:p>
          <a:p xmlns:a="http://schemas.openxmlformats.org/drawingml/2006/main">
            <a:r>
              <a:t>https://github.com/digininja/DVWA/blob/master/vulnerabilities/sqli/source/low.php</a:t>
            </a:r>
            <a:endParaRPr/>
          </a:p>
          <a:p xmlns:a="http://schemas.openxmlformats.org/drawingml/2006/main">
            <a:r>
              <a:t>https://github.com/digininja/DVWA/blob/master/vulnerabilities/sqli/source/medium.php</a:t>
            </a:r>
            <a:endParaRPr/>
          </a:p>
          <a:p xmlns:a="http://schemas.openxmlformats.org/drawingml/2006/main">
            <a:r>
              <a:t>backend/scanner/dvwa.go:220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10–13 min. Seguir una ejecución: React envía POST /api/scans; el handler valida, crea el registro y lanza RunScan; el motor realiza solicitudes a DVWA; el repositorio guarda eventos y hallazgos; React consulta estado y eventos. Mostrar compose.yaml si la audiencia pregunta por redes. Scanner DB y DVWA DB cumplen funciones distintas. El flujo activo de pruebas es secuencial, aunque existan restos de comentarios sobre Worker Pool.</a:t>
            </a:r>
            <a:endParaRPr/>
          </a:p>
          <a:p xmlns:a="http://schemas.openxmlformats.org/drawingml/2006/main">
            <a:r>
              <a:t/>
            </a:r>
            <a:endParaRPr/>
          </a:p>
          <a:p xmlns:a="http://schemas.openxmlformats.org/drawingml/2006/main">
            <a:r>
              <a:t>FUENTES</a:t>
            </a:r>
            <a:endParaRPr/>
          </a:p>
          <a:p xmlns:a="http://schemas.openxmlformats.org/drawingml/2006/main">
            <a:r>
              <a:t>compose.yaml; backend/handlers/handlers.go; backend/scanner/engine.go; backend/database/repository.go; frontend/src/App.jsx.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13–15 min. Mostrar terminal ya preparada, no descargar dependencias frente a la audiencia. Tener .env configurado antes de iniciar. npm install solo si faltan dependencias. Alternativa íntegra en Docker: docker compose -f compose.yaml up -d --build, sin Vite simultáneo. No usar ambos frontends en el puerto 3000. No proyectar el contenido de .env. dvwa-init conserva los datos existentes.</a:t>
            </a:r>
            <a:endParaRPr/>
          </a:p>
          <a:p xmlns:a="http://schemas.openxmlformats.org/drawingml/2006/main">
            <a:r>
              <a:t/>
            </a:r>
            <a:endParaRPr/>
          </a:p>
          <a:p xmlns:a="http://schemas.openxmlformats.org/drawingml/2006/main">
            <a:r>
              <a:t>FUENTES</a:t>
            </a:r>
            <a:endParaRPr/>
          </a:p>
          <a:p xmlns:a="http://schemas.openxmlformats.org/drawingml/2006/main">
            <a:r>
              <a:t>README.md; compose.yaml; frontend/vite.config.js.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15–21 min. CAMBIO A APP. Abrir http://localhost:3000, Laboratorio, Medium e Iniciar escaneo. Pausar el seguimiento antes de expandir un log. Buscar POST, id y las repeticiones. Resultado esperado en el DVWA preparado: dos pruebas reales, seis respuestas de prueba y hallazgos por error SQL y comparación booleana. Las solicitudes de sesión van aparte. Si el resultado cambia, explicar lo medido y acudir al anexo de diagnóstico. Volver a la diapositiva 9.</a:t>
            </a:r>
            <a:endParaRPr/>
          </a:p>
          <a:p xmlns:a="http://schemas.openxmlformats.org/drawingml/2006/main">
            <a:r>
              <a:t/>
            </a:r>
            <a:endParaRPr/>
          </a:p>
          <a:p xmlns:a="http://schemas.openxmlformats.org/drawingml/2006/main">
            <a:r>
              <a:t>FUENTES</a:t>
            </a:r>
            <a:endParaRPr/>
          </a:p>
          <a:p xmlns:a="http://schemas.openxmlformats.org/drawingml/2006/main">
            <a:r>
              <a:t>backend/scanner/dvwa.go; tests/integration/dvwa.ps1.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21–23 min. La captura es evidencia de una ejecución local anterior, no una cifra garantizada para todas las ejecuciones. Señalar los dos hallazgos y las seis respuestas. La condición verdadera conservó un registro y la falsa devolvió cero. Leer estos números en la app en vivo con la evidencia abierta. Si el navegador no está disponible, utilizar esta captura como respaldo.</a:t>
            </a:r>
            <a:endParaRPr/>
          </a:p>
          <a:p xmlns:a="http://schemas.openxmlformats.org/drawingml/2006/main">
            <a:r>
              <a:t/>
            </a:r>
            <a:endParaRPr/>
          </a:p>
          <a:p xmlns:a="http://schemas.openxmlformats.org/drawingml/2006/main">
            <a:r>
              <a:t>FUENTES</a:t>
            </a:r>
            <a:endParaRPr/>
          </a:p>
          <a:p xmlns:a="http://schemas.openxmlformats.org/drawingml/2006/main">
            <a:r>
              <a:t>Captura del proyecto docs/dvwa-activity.jpg, 4 de octubre de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23–25 min. Explicar la diferencia entre cantidad de pruebas y peticiones. Error SQL es una prueba; comparación booleana es otra, con cuatro solicitudes. La base completa el total de seis. Login y configuración de nivel no se cuentan dentro de esas seis peticiones.</a:t>
            </a:r>
            <a:endParaRPr/>
          </a:p>
          <a:p xmlns:a="http://schemas.openxmlformats.org/drawingml/2006/main">
            <a:r>
              <a:t/>
            </a:r>
            <a:endParaRPr/>
          </a:p>
          <a:p xmlns:a="http://schemas.openxmlformats.org/drawingml/2006/main">
            <a:r>
              <a:t>FUENTES</a:t>
            </a:r>
            <a:endParaRPr/>
          </a:p>
          <a:p xmlns:a="http://schemas.openxmlformats.org/drawingml/2006/main">
            <a:r>
              <a:t>backend/scanner/dvwa.go:220–321.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25–30 min. CAMBIO A EDITOR. Abrir backend/scanner/dvwa.go, función probeDVWA, desde la línea 220. Mostrar probeTarget: GET para Low, POST para Medium. Localizar trueValue/falseValue y la extracción de filas. El fragmento de diapositiva conserva la selección real; las dos asignaciones de filas se separan para facilitar la lectura. Buscar la comprobación de repetición y el caso trueRows igual a base con falseRows vacío. No explicar todo el archivo. Volver a diapositiva 12.</a:t>
            </a:r>
            <a:endParaRPr/>
          </a:p>
          <a:p xmlns:a="http://schemas.openxmlformats.org/drawingml/2006/main">
            <a:r>
              <a:t/>
            </a:r>
            <a:endParaRPr/>
          </a:p>
          <a:p xmlns:a="http://schemas.openxmlformats.org/drawingml/2006/main">
            <a:r>
              <a:t>FUENTES</a:t>
            </a:r>
            <a:endParaRPr/>
          </a:p>
          <a:p xmlns:a="http://schemas.openxmlformats.org/drawingml/2006/main">
            <a:r>
              <a:t>backend/scanner/dvwa.go:220; backend/scanner/dvwa.go:282–318.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30–33 min. CAMBIO A EDITOR opcional. En backend/scanner/dvwa.go localizar loginDVWA:177 y dvwaRows:54. Mostrar cómo el motor exige logout.php tras login y el nivel confirmado. Explicar que el parser compara registros observados, no toda la página dinámica de DVWA. No proyectar contraseñas ni cookies. Frontend y scanner mantienen sesiones separadas.</a:t>
            </a:r>
            <a:endParaRPr/>
          </a:p>
          <a:p xmlns:a="http://schemas.openxmlformats.org/drawingml/2006/main">
            <a:r>
              <a:t/>
            </a:r>
            <a:endParaRPr/>
          </a:p>
          <a:p xmlns:a="http://schemas.openxmlformats.org/drawingml/2006/main">
            <a:r>
              <a:t>FUENTES</a:t>
            </a:r>
            <a:endParaRPr/>
          </a:p>
          <a:p xmlns:a="http://schemas.openxmlformats.org/drawingml/2006/main">
            <a:r>
              <a:t>backend/scanner/dvwa.go:54; backend/scanner/dvwa.go:177.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33–39 min. CAMBIO A APP. En Laboratorio seleccionar Low e iniciar. Abrir un log y la evidencia booleana. Mostrar GET y payload entre comillas. Volver al editor solo si hace falta conectar el valor con probeTarget. Pedir a los participantes que expliquen por qué el payload no tiene el mismo texto en ambos niveles. Volver a la diapositiva 14.</a:t>
            </a:r>
            <a:endParaRPr/>
          </a:p>
          <a:p xmlns:a="http://schemas.openxmlformats.org/drawingml/2006/main">
            <a:r>
              <a:t/>
            </a:r>
            <a:endParaRPr/>
          </a:p>
          <a:p xmlns:a="http://schemas.openxmlformats.org/drawingml/2006/main">
            <a:r>
              <a:t>FUENTES</a:t>
            </a:r>
            <a:endParaRPr/>
          </a:p>
          <a:p xmlns:a="http://schemas.openxmlformats.org/drawingml/2006/main">
            <a:r>
              <a:t>backend/scanner/dvwa.go; tests/integration/dvwa.ps1 -Level 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39–45 min. Ejercicio breve: preguntar por qué HTTP 200 no resuelve el diagnóstico. La app evalúa contenido/registros y reproducibilidad. Si los registros cambian entre repeticiones, emite INCONCLUSIVE. La app no captura la consulta SQL del servidor ni registra los nombres de las personas devueltas por DVWA. No confundir bytes y registros.</a:t>
            </a:r>
            <a:endParaRPr/>
          </a:p>
          <a:p xmlns:a="http://schemas.openxmlformats.org/drawingml/2006/main">
            <a:r>
              <a:t/>
            </a:r>
            <a:endParaRPr/>
          </a:p>
          <a:p xmlns:a="http://schemas.openxmlformats.org/drawingml/2006/main">
            <a:r>
              <a:t>FUENTES</a:t>
            </a:r>
            <a:endParaRPr/>
          </a:p>
          <a:p xmlns:a="http://schemas.openxmlformats.org/drawingml/2006/main">
            <a:r>
              <a:t>backend/scanner/dvwa.go:302–318.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45–48 min. Explicar tres peticiones para texto y siete para valores numéricos. La app acepta dominios, IP, puertos y Basic Auth. No afirmar que una lista blanca o un bloqueo general de redes privadas protege este modo. Para el workshop se utilizará exclusivamente la infraestructura local controlada. URLs externas requieren autorización del propietario. Esta autorización operativa es distinta del booleano que envía el frontend.</a:t>
            </a:r>
            <a:endParaRPr/>
          </a:p>
          <a:p xmlns:a="http://schemas.openxmlformats.org/drawingml/2006/main">
            <a:r>
              <a:t/>
            </a:r>
            <a:endParaRPr/>
          </a:p>
          <a:p xmlns:a="http://schemas.openxmlformats.org/drawingml/2006/main">
            <a:r>
              <a:t>FUENTES</a:t>
            </a:r>
            <a:endParaRPr/>
          </a:p>
          <a:p xmlns:a="http://schemas.openxmlformats.org/drawingml/2006/main">
            <a:r>
              <a:t>backend/scanner/authorized.go; backend/scanner/discovery.go; backend/scanner/engine.go; backend/policy/targets.go.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48–53 min. CAMBIO A APP. URL exacta: http://host.docker.internal:8000/login.php?flag=failed. Es la página de login local de DVWA, no su módulo SQLi. Permite demostrar el flujo externo y el diagnóstico sin depender de sitios externos. Se esperan tres solicitudes; no una vulnerabilidad. failed es el valor original. La comilla viaja codificada como %27. El login puede cambiar su token y mantener el mismo tamaño. Si host.docker.internal no existe fuera de Docker, usar un destino de entrenamiento accesible desde donde corre el backend. Volver a diapositiva 17.</a:t>
            </a:r>
            <a:endParaRPr/>
          </a:p>
          <a:p xmlns:a="http://schemas.openxmlformats.org/drawingml/2006/main">
            <a:r>
              <a:t/>
            </a:r>
            <a:endParaRPr/>
          </a:p>
          <a:p xmlns:a="http://schemas.openxmlformats.org/drawingml/2006/main">
            <a:r>
              <a:t>FUENTES</a:t>
            </a:r>
            <a:endParaRPr/>
          </a:p>
          <a:p xmlns:a="http://schemas.openxmlformats.org/drawingml/2006/main">
            <a:r>
              <a:t>docs/authorized-http-tests.md; captura docs/url-payload-diagnostics.jpg.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53–56 min. En la app abrir Ver evidencia. Leer Original: failed, Payload: failed', Query: flag=failed%27. En la captura las respuestas conservan el tamaño, pero el contenido cambió. No aparece una firma SQL reconocida y la comparación booleana se omitió por tratarse de texto. Estas comprobaciones explican la decisión del motor; no permiten asegurar cómo el servidor utilizó flag. La captura corresponde al login local.</a:t>
            </a:r>
            <a:endParaRPr/>
          </a:p>
          <a:p xmlns:a="http://schemas.openxmlformats.org/drawingml/2006/main">
            <a:r>
              <a:t/>
            </a:r>
            <a:endParaRPr/>
          </a:p>
          <a:p xmlns:a="http://schemas.openxmlformats.org/drawingml/2006/main">
            <a:r>
              <a:t>FUENTES</a:t>
            </a:r>
            <a:endParaRPr/>
          </a:p>
          <a:p xmlns:a="http://schemas.openxmlformats.org/drawingml/2006/main">
            <a:r>
              <a:t>docs/url-payload-diagnostics.jpg; backend/scanner/authorized.go:129; frontend/src/App.jsx:82.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56–59 min. Diferenciar resultado de una prueba y estado de ejecución del escaneo. FAILED vive en el escaneo; DETECTED, NOT_DETECTED e INCONCLUSIVE en resultados de pruebas. Un escaneo COMPLETED puede contener una prueba no concluyente. NOT_DETECTED no certifica que el sitio sea seguro. Las pruebas completadas antes de un fallo permanecen guardadas.</a:t>
            </a:r>
            <a:endParaRPr/>
          </a:p>
          <a:p xmlns:a="http://schemas.openxmlformats.org/drawingml/2006/main">
            <a:r>
              <a:t/>
            </a:r>
            <a:endParaRPr/>
          </a:p>
          <a:p xmlns:a="http://schemas.openxmlformats.org/drawingml/2006/main">
            <a:r>
              <a:t>FUENTES</a:t>
            </a:r>
            <a:endParaRPr/>
          </a:p>
          <a:p xmlns:a="http://schemas.openxmlformats.org/drawingml/2006/main">
            <a:r>
              <a:t>backend/models/models.go; backend/scanner/engine.go; backend/scanner/authorized.go; frontend/src/App.jsx.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59–65 min. Dar dos minutos de discusión. Respuesta A: la prueba de error no detecta SQLi; igual tamaño no implica igual contenido. Para la booleana se necesita estabilidad y comparación verdadera/falsa reproducible. Respuesta B: escaneo FAILED y sin veredicto para la prueba interrumpida, conservando resultados previos. CAMBIO A EDITOR: mostrar responseChecks y la condición newSignature en backend/scanner/authorized.go:129–225. Mostrar que el log no inventa una causa interna del servidor.</a:t>
            </a:r>
            <a:endParaRPr/>
          </a:p>
          <a:p xmlns:a="http://schemas.openxmlformats.org/drawingml/2006/main">
            <a:r>
              <a:t/>
            </a:r>
            <a:endParaRPr/>
          </a:p>
          <a:p xmlns:a="http://schemas.openxmlformats.org/drawingml/2006/main">
            <a:r>
              <a:t>FUENTES</a:t>
            </a:r>
            <a:endParaRPr/>
          </a:p>
          <a:p xmlns:a="http://schemas.openxmlformats.org/drawingml/2006/main">
            <a:r>
              <a:t>backend/scanner/authorized.go; frontend/tests/evidence.test.mjs.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65–68 min. Explicar que el marcador enlaza el valor por separado. El símbolo ? es propio del driver MySQL usado aquí; otros drivers utilizan marcadores distintos. id debe validarse antes y err manejarse antes de leer rows. Mostrar backend/remediation/report.go. Es un ejemplo defensivo: la app genera recomendaciones, no modifica por sí misma DVWA.</a:t>
            </a:r>
            <a:endParaRPr/>
          </a:p>
          <a:p xmlns:a="http://schemas.openxmlformats.org/drawingml/2006/main">
            <a:r>
              <a:t/>
            </a:r>
            <a:endParaRPr/>
          </a:p>
          <a:p xmlns:a="http://schemas.openxmlformats.org/drawingml/2006/main">
            <a:r>
              <a:t>FUENTES</a:t>
            </a:r>
            <a:endParaRPr/>
          </a:p>
          <a:p xmlns:a="http://schemas.openxmlformats.org/drawingml/2006/main">
            <a:r>
              <a:t>https://go.dev/doc/database/sql-injection</a:t>
            </a:r>
            <a:endParaRPr/>
          </a:p>
          <a:p xmlns:a="http://schemas.openxmlformats.org/drawingml/2006/main">
            <a:r>
              <a:t>backend/remediation/report.go.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68–71 min. Ejemplo didáctico de remediación del patrón de Medium. Validación de tipo y consulta preparada son controles complementarios. La presentación no modifica el módulo de DVWA. La conexión PDO y el manejo de excepciones se omiten en este fragmento para centrar la explicación. Si se implementa después, configurar el driver y ejecutar pruebas sobre el endpoint reparado.</a:t>
            </a:r>
            <a:endParaRPr/>
          </a:p>
          <a:p xmlns:a="http://schemas.openxmlformats.org/drawingml/2006/main">
            <a:r>
              <a:t/>
            </a:r>
            <a:endParaRPr/>
          </a:p>
          <a:p xmlns:a="http://schemas.openxmlformats.org/drawingml/2006/main">
            <a:r>
              <a:t>FUENTES</a:t>
            </a:r>
            <a:endParaRPr/>
          </a:p>
          <a:p xmlns:a="http://schemas.openxmlformats.org/drawingml/2006/main">
            <a:r>
              <a:t>https://cheatsheetseries.owasp.org/cheatsheets/SQL_Injection_Prevention_Cheat_Sheet.html</a:t>
            </a:r>
            <a:endParaRPr/>
          </a:p>
          <a:p xmlns:a="http://schemas.openxmlformats.org/drawingml/2006/main">
            <a:r>
              <a:t>backend/remediation/report.go.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71–76 min. CAMBIO A APP Y EDITOR. Si el proyector lo permite, poner app a la izquierda y editor a la derecha; si el texto queda pequeño, alternar ventanas. Abrir Remediación y backend/remediation/report.go:12. Mantener un solo fragmento visible. Pedir que identifiquen qué evita el cambio de sintaxis y dónde validar el identificador. Aclarar que generar un reporte no aplica el parche. No prometer una ejecución contra secure-app: el laboratorio anterior ya no existe.</a:t>
            </a:r>
            <a:endParaRPr/>
          </a:p>
          <a:p xmlns:a="http://schemas.openxmlformats.org/drawingml/2006/main">
            <a:r>
              <a:t/>
            </a:r>
            <a:endParaRPr/>
          </a:p>
          <a:p xmlns:a="http://schemas.openxmlformats.org/drawingml/2006/main">
            <a:r>
              <a:t>FUENTES</a:t>
            </a:r>
            <a:endParaRPr/>
          </a:p>
          <a:p xmlns:a="http://schemas.openxmlformats.org/drawingml/2006/main">
            <a:r>
              <a:t>backend/remediation/report.go; frontend/src/App.jsx:166.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76–80 min. CAMBIO A TERMINAL. Preferir resultados preparados. La imagen Docker del backend ejecuta go test ./... durante build si Go local no está disponible. El script PowerShell va en la raíz del repositorio y necesita servicios activos. Mostrar el test de cambios de cuerpo con igual longitud en authorized_test.go y los tests de evidencia en frontend/tests/evidence.test.mjs. Una prueba de un endpoint reparado debe enviar entrada legítima y conservar resultados, además de impedir que una condición cambie el conjunto devuelto. No afirmar que esa prueba de parche ya forma parte del laboratorio actual.</a:t>
            </a:r>
            <a:endParaRPr/>
          </a:p>
          <a:p xmlns:a="http://schemas.openxmlformats.org/drawingml/2006/main">
            <a:r>
              <a:t/>
            </a:r>
            <a:endParaRPr/>
          </a:p>
          <a:p xmlns:a="http://schemas.openxmlformats.org/drawingml/2006/main">
            <a:r>
              <a:t>FUENTES</a:t>
            </a:r>
            <a:endParaRPr/>
          </a:p>
          <a:p xmlns:a="http://schemas.openxmlformats.org/drawingml/2006/main">
            <a:r>
              <a:t>backend/Dockerfile; backend/scanner/authorized_test.go; backend/scanner/dvwa_test.go; frontend/tests/evidence.test.mjs; tests/integration/dvwa.ps1.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80–83 min. Datos guardados del 4 de octubre de 2026 UTC. La mediana se calcula con tiempos monotónicos desde login hasta detección. SQLi Studio usa dos pruebas específicas; sqlmap trabaja con técnica B, nivel 1, riesgo 1, un hilo y MySQL. El arranque de Python se incluye en sqlmap; el reporte visual se excluye en ambos. Las rutas de red difieren, Docker interno y loopback del host. El cronómetro del frontend incluye espera de actualización y no es la métrica de este piloto. No extrapolar los valores a rendimiento general ni cobertura equivalente.</a:t>
            </a:r>
            <a:endParaRPr/>
          </a:p>
          <a:p xmlns:a="http://schemas.openxmlformats.org/drawingml/2006/main">
            <a:r>
              <a:t/>
            </a:r>
            <a:endParaRPr/>
          </a:p>
          <a:p xmlns:a="http://schemas.openxmlformats.org/drawingml/2006/main">
            <a:r>
              <a:t>FUENTES</a:t>
            </a:r>
            <a:endParaRPr/>
          </a:p>
          <a:p xmlns:a="http://schemas.openxmlformats.org/drawingml/2006/main">
            <a:r>
              <a:t>docs/benchmarks/dvwa-latest.json; docs/benchmarks/dvwa-latest.md; scripts/benchmark_dvwa.py.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83–85 min. CAMBIO A EDITOR opcional. Mostrar scripts/benchmark_dvwa.py, funciones app_run, sqlmap_run y main. La copia oficial de sqlmap debe estar instalada previamente en tools/sqlmap. No realizar una descarga ni un benchmark largo durante el workshop; usar el informe guardado y ofrecer la repetición después. Un tiempo menor no implica más cobertura ni más precisión.</a:t>
            </a:r>
            <a:endParaRPr/>
          </a:p>
          <a:p xmlns:a="http://schemas.openxmlformats.org/drawingml/2006/main">
            <a:r>
              <a:t/>
            </a:r>
            <a:endParaRPr/>
          </a:p>
          <a:p xmlns:a="http://schemas.openxmlformats.org/drawingml/2006/main">
            <a:r>
              <a:t>FUENTES</a:t>
            </a:r>
            <a:endParaRPr/>
          </a:p>
          <a:p xmlns:a="http://schemas.openxmlformats.org/drawingml/2006/main">
            <a:r>
              <a:t>scripts/benchmark_dvwa.py; docs/benchmarks/dvwa-latest.json.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85–87 min. CAMBIO BREVE A EDITOR si queda tiempo. Abrir frontend/src/App.jsx:57, buildLogEntries. Mostrar cómo los eventos running y completed comparten step_id y actualizan una fila. LogRow y ProbeDetail mantienen datos técnicos dentro de detalles desplegables. Pausar afecta al desplazamiento automático, no al escaneo. Si el tiempo se agota, resumir este punto sin cambiar de pantalla.</a:t>
            </a:r>
            <a:endParaRPr/>
          </a:p>
          <a:p xmlns:a="http://schemas.openxmlformats.org/drawingml/2006/main">
            <a:r>
              <a:t/>
            </a:r>
            <a:endParaRPr/>
          </a:p>
          <a:p xmlns:a="http://schemas.openxmlformats.org/drawingml/2006/main">
            <a:r>
              <a:t>FUENTES</a:t>
            </a:r>
            <a:endParaRPr/>
          </a:p>
          <a:p xmlns:a="http://schemas.openxmlformats.org/drawingml/2006/main">
            <a:r>
              <a:t>frontend/src/App.jsx:57–138.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87–90 min. Abrir preguntas. Preguntas de apoyo: por qué Medium sigue siendo vulnerable, por qué 0 hallazgos no acredita seguridad y qué haría falta para comparar con sqlmap de forma más amplia. Recapitular el recorrido por app, logs y código sin añadir funcionalidades inexistentes.</a:t>
            </a:r>
            <a:endParaRPr/>
          </a:p>
          <a:p xmlns:a="http://schemas.openxmlformats.org/drawingml/2006/main">
            <a:r>
              <a:t/>
            </a:r>
            <a:endParaRPr/>
          </a:p>
          <a:p xmlns:a="http://schemas.openxmlformats.org/drawingml/2006/main">
            <a:r>
              <a:t>FUENTES</a:t>
            </a:r>
            <a:endParaRPr/>
          </a:p>
          <a:p xmlns:a="http://schemas.openxmlformats.org/drawingml/2006/main">
            <a:r>
              <a:t>https://go.dev/doc/database/sql-injection</a:t>
            </a:r>
            <a:endParaRPr/>
          </a:p>
          <a:p xmlns:a="http://schemas.openxmlformats.org/drawingml/2006/main">
            <a:r>
              <a:t>https://cheatsheetseries.owasp.org/cheatsheets/SQL_Injection_Prevention_Cheat_Sheet.html</a:t>
            </a:r>
            <a:endParaRPr/>
          </a:p>
          <a:p xmlns:a="http://schemas.openxmlformats.org/drawingml/2006/main">
            <a:r>
              <a:t>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 del workshop de 90 minutos. Los siguientes dos slides son anexos de consulta. El QR y los recursos gráficos del cierre pertenecen a la plantilla CEDIA/TICEC suministrada. No representan un enlace al repositorio del proyecto.</a:t>
            </a:r>
            <a:endParaRPr/>
          </a:p>
          <a:p xmlns:a="http://schemas.openxmlformats.org/drawingml/2006/main">
            <a:r>
              <a:t/>
            </a:r>
            <a:endParaRPr/>
          </a:p>
          <a:p xmlns:a="http://schemas.openxmlformats.org/drawingml/2006/main">
            <a:r>
              <a:t>FUENTES</a:t>
            </a:r>
            <a:endParaRPr/>
          </a:p>
          <a:p xmlns:a="http://schemas.openxmlformats.org/drawingml/2006/main">
            <a:r>
              <a:t>Diseño original CEDIA/TICEC suministrado por el usuario.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Anexo, fuera del tiempo de exposición. No borrar volúmenes para resolver una demo: hay datos históricos. Verificar frontend Vite, backend y DVWA. No cambiar objetivos a un dominio tercero improvisado. Las capturas incluidas son respaldo y deben identificarse como capturas, no como una ejecución en vivo.</a:t>
            </a:r>
            <a:endParaRPr/>
          </a:p>
          <a:p xmlns:a="http://schemas.openxmlformats.org/drawingml/2006/main">
            <a:r>
              <a:t/>
            </a:r>
            <a:endParaRPr/>
          </a:p>
          <a:p xmlns:a="http://schemas.openxmlformats.org/drawingml/2006/main">
            <a:r>
              <a:t>FUENTES</a:t>
            </a:r>
            <a:endParaRPr/>
          </a:p>
          <a:p xmlns:a="http://schemas.openxmlformats.org/drawingml/2006/main">
            <a:r>
              <a:t>README.md; compose.yaml; docs/authorized-http-tests.md.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primarias consultadas el 4 de octubre de 2026. Las referencias del proyecto corresponden al código actual. El material docs/workshop anterior se conserva como histórico y no debe usarse para afirmar que hay sensores eBPF o un secure-app activos. Cada diapositiva incluye sus fuentes en estas notas.</a:t>
            </a:r>
            <a:endParaRPr/>
          </a:p>
          <a:p xmlns:a="http://schemas.openxmlformats.org/drawingml/2006/main">
            <a:r>
              <a:t/>
            </a:r>
            <a:endParaRPr/>
          </a:p>
          <a:p xmlns:a="http://schemas.openxmlformats.org/drawingml/2006/main">
            <a:r>
              <a:t>FUENTES</a:t>
            </a:r>
            <a:endParaRPr/>
          </a:p>
          <a:p xmlns:a="http://schemas.openxmlformats.org/drawingml/2006/main">
            <a:r>
              <a:t>https://github.com/digininja/DVWA/blob/master/vulnerabilities/sqli/source/low.php</a:t>
            </a:r>
            <a:endParaRPr/>
          </a:p>
          <a:p xmlns:a="http://schemas.openxmlformats.org/drawingml/2006/main">
            <a:r>
              <a:t>https://github.com/digininja/DVWA/blob/master/vulnerabilities/sqli/source/medium.php</a:t>
            </a:r>
            <a:endParaRPr/>
          </a:p>
          <a:p xmlns:a="http://schemas.openxmlformats.org/drawingml/2006/main">
            <a:r>
              <a:t>https://cheatsheetseries.owasp.org/cheatsheets/SQL_Injection_Prevention_Cheat_Sheet.html</a:t>
            </a:r>
            <a:endParaRPr/>
          </a:p>
          <a:p xmlns:a="http://schemas.openxmlformats.org/drawingml/2006/main">
            <a:r>
              <a:t>https://go.dev/doc/database/sql-injection</a:t>
            </a:r>
            <a:endParaRPr/>
          </a:p>
          <a:p xmlns:a="http://schemas.openxmlformats.org/drawingml/2006/main">
            <a:r>
              <a:t>README.md; docs/benchmarks/dvwa-latest.json.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167ab0ec5f49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d0c195924746a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Blank">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B42D3FA2-C7D1-4FB5-9090-C00632A7BC25}"/>
              </a:ext>
            </a:extLst>
          </p:cNvPr>
          <p:cNvSpPr>
            <a:spLocks xmlns:a="http://schemas.openxmlformats.org/drawingml/2006/main" noGrp="1"/>
          </p:cNvSpPr>
          <p:nvPr>
            <p:ph type="sldNum" idx="4294967295"/>
          </p:nvPr>
        </p:nvSpPr>
        <p:spPr>
          <a:xfrm xmlns:a="http://schemas.openxmlformats.org/drawingml/2006/main">
            <a:off x="11064240" y="644652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200">
                <a:solidFill>
                  <a:srgbClr val="FFFFFF"/>
                </a:solidFill>
              </a:defRPr>
            </a:lvl1pPr>
          </a:lstStyle>
          <a:p xmlns:a="http://schemas.openxmlformats.org/drawingml/2006/main">
            <a:pPr algn="l">
              <a:buNone/>
            </a:pPr>
            <a:fld id="{F7021451-1387-4CA6-816F-3879F97B5CBC}" type="slidenum">
              <a:rPr b="0"/>
              <a:t>1002</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24efb380494266" /><Relationship Type="http://schemas.openxmlformats.org/officeDocument/2006/relationships/slideLayout" Target="/ppt/slideLayouts/slideLayout1.xml" Id="R8fd4e5a8ce1345a1" /><Relationship Type="http://schemas.openxmlformats.org/officeDocument/2006/relationships/slideLayout" Target="/ppt/slideLayouts/slideLayout2.xml" Id="R80bdeaabfb2444a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17512BD-EA89-41BD-8B10-4C40933D9F66}"/>
              </a:ext>
            </a:extLst>
          </p:cNvPr>
          <p:cNvSpPr>
            <a:spLocks xmlns:a="http://schemas.openxmlformats.org/drawingml/2006/main" noGrp="1"/>
          </p:cNvSpPr>
          <p:nvPr>
            <p:ph type="sldNum" idx="4294967295"/>
          </p:nvPr>
        </p:nvSpPr>
        <p:spPr>
          <a:xfrm xmlns:a="http://schemas.openxmlformats.org/drawingml/2006/main">
            <a:off x="11064240" y="644652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200">
                <a:solidFill>
                  <a:srgbClr val="FFFFFF"/>
                </a:solidFill>
              </a:defRPr>
            </a:lvl1pPr>
          </a:lstStyle>
          <a:p xmlns:a="http://schemas.openxmlformats.org/drawingml/2006/main">
            <a:pPr algn="l">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d4e5a8ce1345a1"/>
    <p:sldLayoutId xmlns:r="http://schemas.openxmlformats.org/officeDocument/2006/relationships" id="2147483650" r:id="R80bdeaabfb2444a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2a5d0dfae4542de" /><Relationship Type="http://schemas.openxmlformats.org/officeDocument/2006/relationships/image" Target="/ppt/media/image.jpeg" Id="R5c4d327f5b5242ef" /><Relationship Type="http://schemas.openxmlformats.org/officeDocument/2006/relationships/notesSlide" Target="/ppt/notesSlides/notesSlide1.xml" Id="R8f358a9ddaad47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39f23650bf04af2" /><Relationship Type="http://schemas.openxmlformats.org/officeDocument/2006/relationships/image" Target="/ppt/media/image2.jpeg" Id="R6abb54801d764fbe" /><Relationship Type="http://schemas.openxmlformats.org/officeDocument/2006/relationships/notesSlide" Target="/ppt/notesSlides/notesSlide2.xml" Id="R9c2f3763f27143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c4377ab2b6848e1" /><Relationship Type="http://schemas.openxmlformats.org/officeDocument/2006/relationships/image" Target="/ppt/media/image2.jpeg" Id="R7f23cdff97e9497f" /><Relationship Type="http://schemas.openxmlformats.org/officeDocument/2006/relationships/notesSlide" Target="/ppt/notesSlides/notesSlide3.xml" Id="Rb7a8053dbcd049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b4e323e72044b7a" /><Relationship Type="http://schemas.openxmlformats.org/officeDocument/2006/relationships/image" Target="/ppt/media/image2.jpeg" Id="Rad72b6d609cd43ce" /><Relationship Type="http://schemas.openxmlformats.org/officeDocument/2006/relationships/notesSlide" Target="/ppt/notesSlides/notesSlide4.xml" Id="Rfb771dfef35744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671a573a82f4c41" /><Relationship Type="http://schemas.openxmlformats.org/officeDocument/2006/relationships/image" Target="/ppt/media/image2.jpeg" Id="Rd02943f28b854339" /><Relationship Type="http://schemas.openxmlformats.org/officeDocument/2006/relationships/notesSlide" Target="/ppt/notesSlides/notesSlide5.xml" Id="R277eb138747743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7a22319f8274076" /><Relationship Type="http://schemas.openxmlformats.org/officeDocument/2006/relationships/image" Target="/ppt/media/image2.jpeg" Id="R59957cfa73cb4ad7" /><Relationship Type="http://schemas.openxmlformats.org/officeDocument/2006/relationships/notesSlide" Target="/ppt/notesSlides/notesSlide6.xml" Id="R663ff951cf074e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a1419067b514aae" /><Relationship Type="http://schemas.openxmlformats.org/officeDocument/2006/relationships/image" Target="/ppt/media/image2.jpeg" Id="Rcbd96ba05bcc46c8" /><Relationship Type="http://schemas.openxmlformats.org/officeDocument/2006/relationships/notesSlide" Target="/ppt/notesSlides/notesSlide7.xml" Id="R98cabde427264d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cf2704ee91b41bf" /><Relationship Type="http://schemas.openxmlformats.org/officeDocument/2006/relationships/image" Target="/ppt/media/image2.jpeg" Id="Ra65681f294b54e9f" /><Relationship Type="http://schemas.openxmlformats.org/officeDocument/2006/relationships/notesSlide" Target="/ppt/notesSlides/notesSlide8.xml" Id="R6d35785115124c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c2ebde110254877" /><Relationship Type="http://schemas.openxmlformats.org/officeDocument/2006/relationships/image" Target="/ppt/media/image2.jpeg" Id="R1148b616a9dd4648" /><Relationship Type="http://schemas.openxmlformats.org/officeDocument/2006/relationships/image" Target="/ppt/media/image3.jpeg" Id="Rd9580f8171924d05" /><Relationship Type="http://schemas.openxmlformats.org/officeDocument/2006/relationships/notesSlide" Target="/ppt/notesSlides/notesSlide9.xml" Id="R903706e709414e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6299a2d0d6c4dc3" /><Relationship Type="http://schemas.openxmlformats.org/officeDocument/2006/relationships/image" Target="/ppt/media/image2.jpeg" Id="Rd9c39b6fef354545" /><Relationship Type="http://schemas.openxmlformats.org/officeDocument/2006/relationships/notesSlide" Target="/ppt/notesSlides/notesSlide10.xml" Id="R79a6436282034b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449a0445d3e4c40" /><Relationship Type="http://schemas.openxmlformats.org/officeDocument/2006/relationships/image" Target="/ppt/media/image2.jpeg" Id="R8688b67096384022" /><Relationship Type="http://schemas.openxmlformats.org/officeDocument/2006/relationships/notesSlide" Target="/ppt/notesSlides/notesSlide11.xml" Id="R4c42fe55a04042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0308cb84e9f4afc" /><Relationship Type="http://schemas.openxmlformats.org/officeDocument/2006/relationships/image" Target="/ppt/media/image2.jpeg" Id="Rcd3a09fdfc024f09" /><Relationship Type="http://schemas.openxmlformats.org/officeDocument/2006/relationships/notesSlide" Target="/ppt/notesSlides/notesSlide12.xml" Id="R6c2cd1b28d5844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e43b03d9b6384c50" /><Relationship Type="http://schemas.openxmlformats.org/officeDocument/2006/relationships/image" Target="/ppt/media/image2.jpeg" Id="Rce66eac3c3704abc" /><Relationship Type="http://schemas.openxmlformats.org/officeDocument/2006/relationships/notesSlide" Target="/ppt/notesSlides/notesSlide13.xml" Id="R50219c2e57934e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c090bf301b88404e" /><Relationship Type="http://schemas.openxmlformats.org/officeDocument/2006/relationships/image" Target="/ppt/media/image2.jpeg" Id="R36eda4187be748e2" /><Relationship Type="http://schemas.openxmlformats.org/officeDocument/2006/relationships/notesSlide" Target="/ppt/notesSlides/notesSlide14.xml" Id="R8d69561b400146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b083a3012b649f3" /><Relationship Type="http://schemas.openxmlformats.org/officeDocument/2006/relationships/image" Target="/ppt/media/image2.jpeg" Id="R5627a24cdb4c424f" /><Relationship Type="http://schemas.openxmlformats.org/officeDocument/2006/relationships/notesSlide" Target="/ppt/notesSlides/notesSlide15.xml" Id="R2f3bb6fa9b3843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734c2a127914c11" /><Relationship Type="http://schemas.openxmlformats.org/officeDocument/2006/relationships/image" Target="/ppt/media/image2.jpeg" Id="Raf00095fd44c46f8" /><Relationship Type="http://schemas.openxmlformats.org/officeDocument/2006/relationships/notesSlide" Target="/ppt/notesSlides/notesSlide16.xml" Id="Rf9d05cee9c1449e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7166f1ebfb44c2a" /><Relationship Type="http://schemas.openxmlformats.org/officeDocument/2006/relationships/image" Target="/ppt/media/image2.jpeg" Id="R4a0f41bbdc784acf" /><Relationship Type="http://schemas.openxmlformats.org/officeDocument/2006/relationships/image" Target="/ppt/media/image4.jpeg" Id="R4c80b01abb394a86" /><Relationship Type="http://schemas.openxmlformats.org/officeDocument/2006/relationships/notesSlide" Target="/ppt/notesSlides/notesSlide17.xml" Id="Rc13be2c8689b4d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98380dd049340f0" /><Relationship Type="http://schemas.openxmlformats.org/officeDocument/2006/relationships/image" Target="/ppt/media/image2.jpeg" Id="R0672bfb2f6a2440a" /><Relationship Type="http://schemas.openxmlformats.org/officeDocument/2006/relationships/notesSlide" Target="/ppt/notesSlides/notesSlide18.xml" Id="Ra9416944480f4f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2138d48319a24a6e" /><Relationship Type="http://schemas.openxmlformats.org/officeDocument/2006/relationships/image" Target="/ppt/media/image2.jpeg" Id="Rb016b4f386e74912" /><Relationship Type="http://schemas.openxmlformats.org/officeDocument/2006/relationships/notesSlide" Target="/ppt/notesSlides/notesSlide19.xml" Id="R7d70a0ba4d1e4c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610d21a382e4cf5" /><Relationship Type="http://schemas.openxmlformats.org/officeDocument/2006/relationships/image" Target="/ppt/media/image2.jpeg" Id="Rdc937b4ed3024b9c" /><Relationship Type="http://schemas.openxmlformats.org/officeDocument/2006/relationships/notesSlide" Target="/ppt/notesSlides/notesSlide20.xml" Id="R01b77d21ee45412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aac2381ff8f4425" /><Relationship Type="http://schemas.openxmlformats.org/officeDocument/2006/relationships/image" Target="/ppt/media/image2.jpeg" Id="Rf1936d603361495f" /><Relationship Type="http://schemas.openxmlformats.org/officeDocument/2006/relationships/notesSlide" Target="/ppt/notesSlides/notesSlide21.xml" Id="R596d4db5b1be47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9690c733e24446c" /><Relationship Type="http://schemas.openxmlformats.org/officeDocument/2006/relationships/image" Target="/ppt/media/image2.jpeg" Id="R8aeda19863f74085" /><Relationship Type="http://schemas.openxmlformats.org/officeDocument/2006/relationships/notesSlide" Target="/ppt/notesSlides/notesSlide22.xml" Id="Rcc3a8186fcc04b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39ef816a2e142ea" /><Relationship Type="http://schemas.openxmlformats.org/officeDocument/2006/relationships/image" Target="/ppt/media/image2.jpeg" Id="R65e5db43b69b41f1" /><Relationship Type="http://schemas.openxmlformats.org/officeDocument/2006/relationships/notesSlide" Target="/ppt/notesSlides/notesSlide23.xml" Id="Rc3b85d8e44194fe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bd020c0a563e47ce" /><Relationship Type="http://schemas.openxmlformats.org/officeDocument/2006/relationships/image" Target="/ppt/media/image2.jpeg" Id="Re933cfd720524c5e" /><Relationship Type="http://schemas.openxmlformats.org/officeDocument/2006/relationships/notesSlide" Target="/ppt/notesSlides/notesSlide24.xml" Id="R04a3087257f24f2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2dee5a21cf948fc" /><Relationship Type="http://schemas.openxmlformats.org/officeDocument/2006/relationships/image" Target="/ppt/media/image2.jpeg" Id="R7171b657d7c04a1f" /><Relationship Type="http://schemas.openxmlformats.org/officeDocument/2006/relationships/notesSlide" Target="/ppt/notesSlides/notesSlide25.xml" Id="Rd8c0c5d3f41241e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74ff338fcae44e8f" /><Relationship Type="http://schemas.openxmlformats.org/officeDocument/2006/relationships/image" Target="/ppt/media/image2.jpeg" Id="Rb329137e52aa4cf7" /><Relationship Type="http://schemas.openxmlformats.org/officeDocument/2006/relationships/notesSlide" Target="/ppt/notesSlides/notesSlide26.xml" Id="R244309d95b6f4e8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68b155710edd4a1e" /><Relationship Type="http://schemas.openxmlformats.org/officeDocument/2006/relationships/image" Target="/ppt/media/image2.jpeg" Id="Rc79b3316344543eb" /><Relationship Type="http://schemas.openxmlformats.org/officeDocument/2006/relationships/notesSlide" Target="/ppt/notesSlides/notesSlide27.xml" Id="Re98408b635b6408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07748d7f110f4234" /><Relationship Type="http://schemas.openxmlformats.org/officeDocument/2006/relationships/image" Target="/ppt/media/image5.jpeg" Id="R667d9e99f565445a" /><Relationship Type="http://schemas.openxmlformats.org/officeDocument/2006/relationships/notesSlide" Target="/ppt/notesSlides/notesSlide28.xml" Id="Re65f3e0e4bde48a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19797c7098244cdd" /><Relationship Type="http://schemas.openxmlformats.org/officeDocument/2006/relationships/image" Target="/ppt/media/image2.jpeg" Id="Rfd905ca5b7e2469c" /><Relationship Type="http://schemas.openxmlformats.org/officeDocument/2006/relationships/notesSlide" Target="/ppt/notesSlides/notesSlide29.xml" Id="Rf121c842b63040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859539ceea5e43f1" /><Relationship Type="http://schemas.openxmlformats.org/officeDocument/2006/relationships/image" Target="/ppt/media/image2.jpeg" Id="Rfed81ccc53394a63" /><Relationship Type="http://schemas.openxmlformats.org/officeDocument/2006/relationships/notesSlide" Target="/ppt/notesSlides/notesSlide30.xml" Id="Rdd2cb1fd53c141a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5c4d327f5b5242e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7" name="Text 0">
            <a:extLst xmlns:a="http://schemas.openxmlformats.org/drawingml/2006/main">
              <a:ext uri="{FF2B5EF4-FFF2-40B4-BE49-F238E27FC236}">
                <a16:creationId xmlns:a16="http://schemas.microsoft.com/office/drawing/2014/main" id="{338E3B4C-B643-4AEA-839D-03C134DE36EB}"/>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a:t>
            </a:r>
          </a:p>
        </p:txBody>
      </p:sp>
      <p:sp>
        <p:nvSpPr>
          <p:cNvPr id="28" name="Text 1">
            <a:extLst xmlns:a="http://schemas.openxmlformats.org/drawingml/2006/main">
              <a:ext uri="{FF2B5EF4-FFF2-40B4-BE49-F238E27FC236}">
                <a16:creationId xmlns:a16="http://schemas.microsoft.com/office/drawing/2014/main" id="{7F2C867B-FF74-4B6E-A54E-F9A67E8C140E}"/>
              </a:ext>
            </a:extLst>
          </p:cNvPr>
          <p:cNvSpPr>
            <a:spLocks xmlns:a="http://schemas.openxmlformats.org/drawingml/2006/main" noGrp="1"/>
          </p:cNvSpPr>
          <p:nvPr/>
        </p:nvSpPr>
        <p:spPr>
          <a:xfrm xmlns:a="http://schemas.openxmlformats.org/drawingml/2006/main">
            <a:off x="1152525" y="2352675"/>
            <a:ext cx="876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SQL Injection con DVWA</a:t>
            </a:r>
          </a:p>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Evidencia, código y remediación</a:t>
            </a:r>
          </a:p>
        </p:txBody>
      </p:sp>
      <p:sp>
        <p:nvSpPr>
          <p:cNvPr id="29" name="Text 2">
            <a:extLst xmlns:a="http://schemas.openxmlformats.org/drawingml/2006/main">
              <a:ext uri="{FF2B5EF4-FFF2-40B4-BE49-F238E27FC236}">
                <a16:creationId xmlns:a16="http://schemas.microsoft.com/office/drawing/2014/main" id="{B93F9D07-D188-4C4A-B730-20D521B76459}"/>
              </a:ext>
            </a:extLst>
          </p:cNvPr>
          <p:cNvSpPr>
            <a:spLocks xmlns:a="http://schemas.openxmlformats.org/drawingml/2006/main" noGrp="1"/>
          </p:cNvSpPr>
          <p:nvPr/>
        </p:nvSpPr>
        <p:spPr>
          <a:xfrm xmlns:a="http://schemas.openxmlformats.org/drawingml/2006/main">
            <a:off x="1152525" y="3571875"/>
            <a:ext cx="7858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SQLi Studio: workshop práctico para desarrolladores</a:t>
            </a:r>
          </a:p>
        </p:txBody>
      </p:sp>
      <p:sp>
        <p:nvSpPr>
          <p:cNvPr id="30" name="Text 3">
            <a:extLst xmlns:a="http://schemas.openxmlformats.org/drawingml/2006/main">
              <a:ext uri="{FF2B5EF4-FFF2-40B4-BE49-F238E27FC236}">
                <a16:creationId xmlns:a16="http://schemas.microsoft.com/office/drawing/2014/main" id="{F6A5753A-7528-45CB-8622-26E72217EDA1}"/>
              </a:ext>
            </a:extLst>
          </p:cNvPr>
          <p:cNvSpPr>
            <a:spLocks xmlns:a="http://schemas.openxmlformats.org/drawingml/2006/main" noGrp="1"/>
          </p:cNvSpPr>
          <p:nvPr/>
        </p:nvSpPr>
        <p:spPr>
          <a:xfrm xmlns:a="http://schemas.openxmlformats.org/drawingml/2006/main">
            <a:off x="1152525" y="44291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90 minutos     Desarrolladores     TICEC 2026</a:t>
            </a:r>
          </a:p>
        </p:txBody>
      </p:sp>
    </p:spTree>
    <p:extLst>
      <p:ext uri="{BB962C8B-B14F-4D97-AF65-F5344CB8AC3E}">
        <p14:creationId xmlns:p14="http://schemas.microsoft.com/office/powerpoint/2010/main" val="12164792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6abb54801d764fbe"/>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663B01A7-36CA-4D3B-B015-6F9E7314DF99}"/>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a:t>
            </a:r>
          </a:p>
        </p:txBody>
      </p:sp>
      <p:sp>
        <p:nvSpPr>
          <p:cNvPr id="28" name="Text 2">
            <a:extLst xmlns:a="http://schemas.openxmlformats.org/drawingml/2006/main">
              <a:ext uri="{FF2B5EF4-FFF2-40B4-BE49-F238E27FC236}">
                <a16:creationId xmlns:a16="http://schemas.microsoft.com/office/drawing/2014/main" id="{30BB0C54-94D1-4925-A068-6A51AB7CFEEE}"/>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AGENDA</a:t>
            </a:r>
          </a:p>
        </p:txBody>
      </p:sp>
      <p:sp>
        <p:nvSpPr>
          <p:cNvPr id="29" name="Text 3">
            <a:extLst xmlns:a="http://schemas.openxmlformats.org/drawingml/2006/main">
              <a:ext uri="{FF2B5EF4-FFF2-40B4-BE49-F238E27FC236}">
                <a16:creationId xmlns:a16="http://schemas.microsoft.com/office/drawing/2014/main" id="{EB428D91-12DF-4724-81A3-4ED4FD57F353}"/>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Workshop de 90 minutos</a:t>
            </a:r>
          </a:p>
        </p:txBody>
      </p:sp>
      <p:sp>
        <p:nvSpPr>
          <p:cNvPr id="30" name="Text 4">
            <a:extLst xmlns:a="http://schemas.openxmlformats.org/drawingml/2006/main">
              <a:ext uri="{FF2B5EF4-FFF2-40B4-BE49-F238E27FC236}">
                <a16:creationId xmlns:a16="http://schemas.microsoft.com/office/drawing/2014/main" id="{B0053050-6848-4E6E-B631-527154F453F5}"/>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Explicación breve, demostraciones intercaladas y trabajo con código</a:t>
            </a:r>
          </a:p>
        </p:txBody>
      </p:sp>
      <p:graphicFrame>
        <p:nvGraphicFramePr>
          <p:cNvPr id="39" name=""/>
          <p:cNvGraphicFramePr/>
          <p:nvPr/>
        </p:nvGraphicFramePr>
        <p:xfrm>
          <a:off xmlns:a="http://schemas.openxmlformats.org/drawingml/2006/main" x="742950" y="2085975"/>
          <a:ext xmlns:a="http://schemas.openxmlformats.org/drawingml/2006/main" cx="9810750" cy="3209925"/>
        </p:xfrm>
        <a:graphic xmlns:a="http://schemas.openxmlformats.org/drawingml/2006/main">
          <a:graphicData uri="http://schemas.openxmlformats.org/drawingml/2006/table">
            <a:tbl>
              <a:tblPr/>
              <a:tblGrid>
                <a:gridCol w="3270250"/>
                <a:gridCol w="3270250"/>
                <a:gridCol w="3270250"/>
              </a:tblGrid>
              <a:tr h="458561">
                <a:tc>
                  <a:txBody>
                    <a:bodyPr/>
                    <a:lstStyle/>
                    <a:p>
                      <a:r>
                        <a:rPr sz="1575" b="1">
                          <a:solidFill>
                            <a:srgbClr val="FFFFFF"/>
                          </a:solidFill>
                          <a:latin typeface="Arial"/>
                          <a:ea typeface="Arial"/>
                          <a:cs typeface="Arial"/>
                        </a:rPr>
                        <a:t>Minutos</a:t>
                      </a:r>
                    </a:p>
                  </a:txBody>
                  <a:tcPr marL="114300" marR="114300" marT="95250" marB="76200">
                    <a:solidFill>
                      <a:srgbClr val="070E46"/>
                    </a:solidFill>
                  </a:tcPr>
                </a:tc>
                <a:tc>
                  <a:txBody>
                    <a:bodyPr/>
                    <a:lstStyle/>
                    <a:p>
                      <a:r>
                        <a:rPr sz="1575" b="1">
                          <a:solidFill>
                            <a:srgbClr val="FFFFFF"/>
                          </a:solidFill>
                          <a:latin typeface="Arial"/>
                          <a:ea typeface="Arial"/>
                          <a:cs typeface="Arial"/>
                        </a:rPr>
                        <a:t>Bloque</a:t>
                      </a:r>
                    </a:p>
                  </a:txBody>
                  <a:tcPr marL="114300" marR="114300" marT="95250" marB="76200">
                    <a:solidFill>
                      <a:srgbClr val="070E46"/>
                    </a:solidFill>
                  </a:tcPr>
                </a:tc>
                <a:tc>
                  <a:txBody>
                    <a:bodyPr/>
                    <a:lstStyle/>
                    <a:p>
                      <a:r>
                        <a:rPr sz="1575" b="1">
                          <a:solidFill>
                            <a:srgbClr val="FFFFFF"/>
                          </a:solidFill>
                          <a:latin typeface="Arial"/>
                          <a:ea typeface="Arial"/>
                          <a:cs typeface="Arial"/>
                        </a:rPr>
                        <a:t>Pantalla principal</a:t>
                      </a:r>
                    </a:p>
                  </a:txBody>
                  <a:tcPr marL="114300" marR="114300" marT="95250" marB="76200">
                    <a:solidFill>
                      <a:srgbClr val="070E46"/>
                    </a:solidFill>
                  </a:tcPr>
                </a:tc>
              </a:tr>
              <a:tr h="458561">
                <a:tc>
                  <a:txBody>
                    <a:bodyPr/>
                    <a:lstStyle/>
                    <a:p>
                      <a:r>
                        <a:rPr sz="1575">
                          <a:solidFill>
                            <a:srgbClr val="444444"/>
                          </a:solidFill>
                          <a:latin typeface="Arial"/>
                          <a:ea typeface="Arial"/>
                          <a:cs typeface="Arial"/>
                        </a:rPr>
                        <a:t>00–10</a:t>
                      </a:r>
                    </a:p>
                  </a:txBody>
                  <a:tcPr marL="114300" marR="114300" marT="95250" marB="76200">
                    <a:solidFill>
                      <a:srgbClr val="FFFFFF"/>
                    </a:solidFill>
                  </a:tcPr>
                </a:tc>
                <a:tc>
                  <a:txBody>
                    <a:bodyPr/>
                    <a:lstStyle/>
                    <a:p>
                      <a:r>
                        <a:rPr sz="1575">
                          <a:solidFill>
                            <a:srgbClr val="444444"/>
                          </a:solidFill>
                          <a:latin typeface="Arial"/>
                          <a:ea typeface="Arial"/>
                          <a:cs typeface="Arial"/>
                        </a:rPr>
                        <a:t>Fundamentos y alcance</a:t>
                      </a:r>
                    </a:p>
                  </a:txBody>
                  <a:tcPr marL="114300" marR="114300" marT="95250" marB="76200">
                    <a:solidFill>
                      <a:srgbClr val="FFFFFF"/>
                    </a:solidFill>
                  </a:tcPr>
                </a:tc>
                <a:tc>
                  <a:txBody>
                    <a:bodyPr/>
                    <a:lstStyle/>
                    <a:p>
                      <a:r>
                        <a:rPr sz="1575">
                          <a:solidFill>
                            <a:srgbClr val="444444"/>
                          </a:solidFill>
                          <a:latin typeface="Arial"/>
                          <a:ea typeface="Arial"/>
                          <a:cs typeface="Arial"/>
                        </a:rPr>
                        <a:t>Diapositivas</a:t>
                      </a:r>
                    </a:p>
                  </a:txBody>
                  <a:tcPr marL="114300" marR="114300" marT="95250" marB="76200">
                    <a:solidFill>
                      <a:srgbClr val="FFFFFF"/>
                    </a:solidFill>
                  </a:tcPr>
                </a:tc>
              </a:tr>
              <a:tr h="458561">
                <a:tc>
                  <a:txBody>
                    <a:bodyPr/>
                    <a:lstStyle/>
                    <a:p>
                      <a:r>
                        <a:rPr sz="1575">
                          <a:solidFill>
                            <a:srgbClr val="444444"/>
                          </a:solidFill>
                          <a:latin typeface="Arial"/>
                          <a:ea typeface="Arial"/>
                          <a:cs typeface="Arial"/>
                        </a:rPr>
                        <a:t>10–25</a:t>
                      </a:r>
                    </a:p>
                  </a:txBody>
                  <a:tcPr marL="114300" marR="114300" marT="95250" marB="76200">
                    <a:solidFill>
                      <a:srgbClr val="FFFFFF"/>
                    </a:solidFill>
                  </a:tcPr>
                </a:tc>
                <a:tc>
                  <a:txBody>
                    <a:bodyPr/>
                    <a:lstStyle/>
                    <a:p>
                      <a:r>
                        <a:rPr sz="1575">
                          <a:solidFill>
                            <a:srgbClr val="444444"/>
                          </a:solidFill>
                          <a:latin typeface="Arial"/>
                          <a:ea typeface="Arial"/>
                          <a:cs typeface="Arial"/>
                        </a:rPr>
                        <a:t>Arquitectura y DVWA Medium</a:t>
                      </a:r>
                    </a:p>
                  </a:txBody>
                  <a:tcPr marL="114300" marR="114300" marT="95250" marB="76200">
                    <a:solidFill>
                      <a:srgbClr val="FFFFFF"/>
                    </a:solidFill>
                  </a:tcPr>
                </a:tc>
                <a:tc>
                  <a:txBody>
                    <a:bodyPr/>
                    <a:lstStyle/>
                    <a:p>
                      <a:r>
                        <a:rPr sz="1575">
                          <a:solidFill>
                            <a:srgbClr val="444444"/>
                          </a:solidFill>
                          <a:latin typeface="Arial"/>
                          <a:ea typeface="Arial"/>
                          <a:cs typeface="Arial"/>
                        </a:rPr>
                        <a:t>App y diapositivas</a:t>
                      </a:r>
                    </a:p>
                  </a:txBody>
                  <a:tcPr marL="114300" marR="114300" marT="95250" marB="76200">
                    <a:solidFill>
                      <a:srgbClr val="FFFFFF"/>
                    </a:solidFill>
                  </a:tcPr>
                </a:tc>
              </a:tr>
              <a:tr h="458561">
                <a:tc>
                  <a:txBody>
                    <a:bodyPr/>
                    <a:lstStyle/>
                    <a:p>
                      <a:r>
                        <a:rPr sz="1575">
                          <a:solidFill>
                            <a:srgbClr val="444444"/>
                          </a:solidFill>
                          <a:latin typeface="Arial"/>
                          <a:ea typeface="Arial"/>
                          <a:cs typeface="Arial"/>
                        </a:rPr>
                        <a:t>25–45</a:t>
                      </a:r>
                    </a:p>
                  </a:txBody>
                  <a:tcPr marL="114300" marR="114300" marT="95250" marB="76200">
                    <a:solidFill>
                      <a:srgbClr val="FFFFFF"/>
                    </a:solidFill>
                  </a:tcPr>
                </a:tc>
                <a:tc>
                  <a:txBody>
                    <a:bodyPr/>
                    <a:lstStyle/>
                    <a:p>
                      <a:r>
                        <a:rPr sz="1575">
                          <a:solidFill>
                            <a:srgbClr val="444444"/>
                          </a:solidFill>
                          <a:latin typeface="Arial"/>
                          <a:ea typeface="Arial"/>
                          <a:cs typeface="Arial"/>
                        </a:rPr>
                        <a:t>Motor Go y DVWA Low</a:t>
                      </a:r>
                    </a:p>
                  </a:txBody>
                  <a:tcPr marL="114300" marR="114300" marT="95250" marB="76200">
                    <a:solidFill>
                      <a:srgbClr val="FFFFFF"/>
                    </a:solidFill>
                  </a:tcPr>
                </a:tc>
                <a:tc>
                  <a:txBody>
                    <a:bodyPr/>
                    <a:lstStyle/>
                    <a:p>
                      <a:r>
                        <a:rPr sz="1575">
                          <a:solidFill>
                            <a:srgbClr val="444444"/>
                          </a:solidFill>
                          <a:latin typeface="Arial"/>
                          <a:ea typeface="Arial"/>
                          <a:cs typeface="Arial"/>
                        </a:rPr>
                        <a:t>Código y app</a:t>
                      </a:r>
                    </a:p>
                  </a:txBody>
                  <a:tcPr marL="114300" marR="114300" marT="95250" marB="76200">
                    <a:solidFill>
                      <a:srgbClr val="FFFFFF"/>
                    </a:solidFill>
                  </a:tcPr>
                </a:tc>
              </a:tr>
              <a:tr h="458561">
                <a:tc>
                  <a:txBody>
                    <a:bodyPr/>
                    <a:lstStyle/>
                    <a:p>
                      <a:r>
                        <a:rPr sz="1575">
                          <a:solidFill>
                            <a:srgbClr val="444444"/>
                          </a:solidFill>
                          <a:latin typeface="Arial"/>
                          <a:ea typeface="Arial"/>
                          <a:cs typeface="Arial"/>
                        </a:rPr>
                        <a:t>45–65</a:t>
                      </a:r>
                    </a:p>
                  </a:txBody>
                  <a:tcPr marL="114300" marR="114300" marT="95250" marB="76200">
                    <a:solidFill>
                      <a:srgbClr val="FFFFFF"/>
                    </a:solidFill>
                  </a:tcPr>
                </a:tc>
                <a:tc>
                  <a:txBody>
                    <a:bodyPr/>
                    <a:lstStyle/>
                    <a:p>
                      <a:r>
                        <a:rPr sz="1575">
                          <a:solidFill>
                            <a:srgbClr val="444444"/>
                          </a:solidFill>
                          <a:latin typeface="Arial"/>
                          <a:ea typeface="Arial"/>
                          <a:cs typeface="Arial"/>
                        </a:rPr>
                        <a:t>URL y diagnóstico de logs</a:t>
                      </a:r>
                    </a:p>
                  </a:txBody>
                  <a:tcPr marL="114300" marR="114300" marT="95250" marB="76200">
                    <a:solidFill>
                      <a:srgbClr val="FFFFFF"/>
                    </a:solidFill>
                  </a:tcPr>
                </a:tc>
                <a:tc>
                  <a:txBody>
                    <a:bodyPr/>
                    <a:lstStyle/>
                    <a:p>
                      <a:r>
                        <a:rPr sz="1575">
                          <a:solidFill>
                            <a:srgbClr val="444444"/>
                          </a:solidFill>
                          <a:latin typeface="Arial"/>
                          <a:ea typeface="Arial"/>
                          <a:cs typeface="Arial"/>
                        </a:rPr>
                        <a:t>App y código</a:t>
                      </a:r>
                    </a:p>
                  </a:txBody>
                  <a:tcPr marL="114300" marR="114300" marT="95250" marB="76200">
                    <a:solidFill>
                      <a:srgbClr val="FFFFFF"/>
                    </a:solidFill>
                  </a:tcPr>
                </a:tc>
              </a:tr>
              <a:tr h="458561">
                <a:tc>
                  <a:txBody>
                    <a:bodyPr/>
                    <a:lstStyle/>
                    <a:p>
                      <a:r>
                        <a:rPr sz="1575">
                          <a:solidFill>
                            <a:srgbClr val="444444"/>
                          </a:solidFill>
                          <a:latin typeface="Arial"/>
                          <a:ea typeface="Arial"/>
                          <a:cs typeface="Arial"/>
                        </a:rPr>
                        <a:t>65–80</a:t>
                      </a:r>
                    </a:p>
                  </a:txBody>
                  <a:tcPr marL="114300" marR="114300" marT="95250" marB="76200">
                    <a:solidFill>
                      <a:srgbClr val="FFFFFF"/>
                    </a:solidFill>
                  </a:tcPr>
                </a:tc>
                <a:tc>
                  <a:txBody>
                    <a:bodyPr/>
                    <a:lstStyle/>
                    <a:p>
                      <a:r>
                        <a:rPr sz="1575">
                          <a:solidFill>
                            <a:srgbClr val="444444"/>
                          </a:solidFill>
                          <a:latin typeface="Arial"/>
                          <a:ea typeface="Arial"/>
                          <a:cs typeface="Arial"/>
                        </a:rPr>
                        <a:t>Remediación y comprobación</a:t>
                      </a:r>
                    </a:p>
                  </a:txBody>
                  <a:tcPr marL="114300" marR="114300" marT="95250" marB="76200">
                    <a:solidFill>
                      <a:srgbClr val="FFFFFF"/>
                    </a:solidFill>
                  </a:tcPr>
                </a:tc>
                <a:tc>
                  <a:txBody>
                    <a:bodyPr/>
                    <a:lstStyle/>
                    <a:p>
                      <a:r>
                        <a:rPr sz="1575">
                          <a:solidFill>
                            <a:srgbClr val="444444"/>
                          </a:solidFill>
                          <a:latin typeface="Arial"/>
                          <a:ea typeface="Arial"/>
                          <a:cs typeface="Arial"/>
                        </a:rPr>
                        <a:t>Editor y terminal</a:t>
                      </a:r>
                    </a:p>
                  </a:txBody>
                  <a:tcPr marL="114300" marR="114300" marT="95250" marB="76200">
                    <a:solidFill>
                      <a:srgbClr val="FFFFFF"/>
                    </a:solidFill>
                  </a:tcPr>
                </a:tc>
              </a:tr>
              <a:tr h="458561">
                <a:tc>
                  <a:txBody>
                    <a:bodyPr/>
                    <a:lstStyle/>
                    <a:p>
                      <a:r>
                        <a:rPr sz="1575">
                          <a:solidFill>
                            <a:srgbClr val="444444"/>
                          </a:solidFill>
                          <a:latin typeface="Arial"/>
                          <a:ea typeface="Arial"/>
                          <a:cs typeface="Arial"/>
                        </a:rPr>
                        <a:t>80–90</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Medición y preguntas</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Diapositivas</a:t>
                      </a:r>
                    </a:p>
                  </a:txBody>
                  <a:tcPr marL="114300" marR="114300" marT="95250" marB="76200">
                    <a:lnB w="9525">
                      <a:solidFill>
                        <a:srgbClr val="D6D6D6"/>
                      </a:solidFill>
                    </a:lnB>
                    <a:solidFill>
                      <a:srgbClr val="FFFFFF"/>
                    </a:solidFill>
                  </a:tcPr>
                </a:tc>
              </a:tr>
            </a:tbl>
          </a:graphicData>
        </a:graphic>
      </p:graphicFrame>
      <p:sp>
        <p:nvSpPr>
          <p:cNvPr id="32" name="Text 5">
            <a:extLst xmlns:a="http://schemas.openxmlformats.org/drawingml/2006/main">
              <a:ext uri="{FF2B5EF4-FFF2-40B4-BE49-F238E27FC236}">
                <a16:creationId xmlns:a16="http://schemas.microsoft.com/office/drawing/2014/main" id="{505685E1-1A0E-414C-9127-34FD94DCCB00}"/>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7f23cdff97e9497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CE64D082-A55A-4B72-8ED2-5B3EA80ED1A2}"/>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3</a:t>
            </a:r>
          </a:p>
        </p:txBody>
      </p:sp>
      <p:sp>
        <p:nvSpPr>
          <p:cNvPr id="28" name="Text 2">
            <a:extLst xmlns:a="http://schemas.openxmlformats.org/drawingml/2006/main">
              <a:ext uri="{FF2B5EF4-FFF2-40B4-BE49-F238E27FC236}">
                <a16:creationId xmlns:a16="http://schemas.microsoft.com/office/drawing/2014/main" id="{48306D44-4DB2-4E6F-AEF4-2E45D8737133}"/>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ALCANCE ACTUAL</a:t>
            </a:r>
          </a:p>
        </p:txBody>
      </p:sp>
      <p:sp>
        <p:nvSpPr>
          <p:cNvPr id="29" name="Text 3">
            <a:extLst xmlns:a="http://schemas.openxmlformats.org/drawingml/2006/main">
              <a:ext uri="{FF2B5EF4-FFF2-40B4-BE49-F238E27FC236}">
                <a16:creationId xmlns:a16="http://schemas.microsoft.com/office/drawing/2014/main" id="{C13B3258-8319-43CF-883C-03305F1C14F5}"/>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Qué hace SQLi Studio</a:t>
            </a:r>
          </a:p>
        </p:txBody>
      </p:sp>
      <p:sp>
        <p:nvSpPr>
          <p:cNvPr id="30" name="Text 4">
            <a:extLst xmlns:a="http://schemas.openxmlformats.org/drawingml/2006/main">
              <a:ext uri="{FF2B5EF4-FFF2-40B4-BE49-F238E27FC236}">
                <a16:creationId xmlns:a16="http://schemas.microsoft.com/office/drawing/2014/main" id="{036FC0BF-DC82-408C-B61F-0311F4A67D83}"/>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Un escáner educativo con resultados y actividad HTTP visibles</a:t>
            </a:r>
          </a:p>
        </p:txBody>
      </p:sp>
      <p:sp>
        <p:nvSpPr>
          <p:cNvPr id="31" name="Text 5">
            <a:extLst xmlns:a="http://schemas.openxmlformats.org/drawingml/2006/main">
              <a:ext uri="{FF2B5EF4-FFF2-40B4-BE49-F238E27FC236}">
                <a16:creationId xmlns:a16="http://schemas.microsoft.com/office/drawing/2014/main" id="{2ADBE335-7122-40DC-8E32-02068DB3A03A}"/>
              </a:ext>
            </a:extLst>
          </p:cNvPr>
          <p:cNvSpPr>
            <a:spLocks xmlns:a="http://schemas.openxmlformats.org/drawingml/2006/main" noGrp="1"/>
          </p:cNvSpPr>
          <p:nvPr/>
        </p:nvSpPr>
        <p:spPr>
          <a:xfrm xmlns:a="http://schemas.openxmlformats.org/drawingml/2006/main">
            <a:off x="742950" y="2085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Laboratorio DVWA</a:t>
            </a:r>
          </a:p>
        </p:txBody>
      </p:sp>
      <p:sp>
        <p:nvSpPr>
          <p:cNvPr id="32" name="Text 6">
            <a:extLst xmlns:a="http://schemas.openxmlformats.org/drawingml/2006/main">
              <a:ext uri="{FF2B5EF4-FFF2-40B4-BE49-F238E27FC236}">
                <a16:creationId xmlns:a16="http://schemas.microsoft.com/office/drawing/2014/main" id="{E73D6288-6D3A-4D75-B572-6FC49137FA4A}"/>
              </a:ext>
            </a:extLst>
          </p:cNvPr>
          <p:cNvSpPr>
            <a:spLocks xmlns:a="http://schemas.openxmlformats.org/drawingml/2006/main" noGrp="1"/>
          </p:cNvSpPr>
          <p:nvPr/>
        </p:nvSpPr>
        <p:spPr>
          <a:xfrm xmlns:a="http://schemas.openxmlformats.org/drawingml/2006/main">
            <a:off x="742950" y="2476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Login, sesión, niveles Low y Medium, error SQL y pares booleanos repetidos.</a:t>
            </a:r>
          </a:p>
        </p:txBody>
      </p:sp>
      <p:sp>
        <p:nvSpPr>
          <p:cNvPr id="33" name="Text 7">
            <a:extLst xmlns:a="http://schemas.openxmlformats.org/drawingml/2006/main">
              <a:ext uri="{FF2B5EF4-FFF2-40B4-BE49-F238E27FC236}">
                <a16:creationId xmlns:a16="http://schemas.microsoft.com/office/drawing/2014/main" id="{093C9285-58E4-4B27-BD3E-6046A5E897A2}"/>
              </a:ext>
            </a:extLst>
          </p:cNvPr>
          <p:cNvSpPr>
            <a:spLocks xmlns:a="http://schemas.openxmlformats.org/drawingml/2006/main" noGrp="1"/>
          </p:cNvSpPr>
          <p:nvPr/>
        </p:nvSpPr>
        <p:spPr>
          <a:xfrm xmlns:a="http://schemas.openxmlformats.org/drawingml/2006/main">
            <a:off x="742950" y="3228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Análisis por URL</a:t>
            </a:r>
          </a:p>
        </p:txBody>
      </p:sp>
      <p:sp>
        <p:nvSpPr>
          <p:cNvPr id="34" name="Text 8">
            <a:extLst xmlns:a="http://schemas.openxmlformats.org/drawingml/2006/main">
              <a:ext uri="{FF2B5EF4-FFF2-40B4-BE49-F238E27FC236}">
                <a16:creationId xmlns:a16="http://schemas.microsoft.com/office/drawing/2014/main" id="{ADFCF07C-557B-4738-9C6E-A48FCFF2F78C}"/>
              </a:ext>
            </a:extLst>
          </p:cNvPr>
          <p:cNvSpPr>
            <a:spLocks xmlns:a="http://schemas.openxmlformats.org/drawingml/2006/main" noGrp="1"/>
          </p:cNvSpPr>
          <p:nvPr/>
        </p:nvSpPr>
        <p:spPr>
          <a:xfrm xmlns:a="http://schemas.openxmlformats.org/drawingml/2006/main">
            <a:off x="742950" y="3619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Parámetros GET, petición base, payload y comparación de respuestas.</a:t>
            </a:r>
          </a:p>
        </p:txBody>
      </p:sp>
      <p:sp>
        <p:nvSpPr>
          <p:cNvPr id="35" name="Text 9">
            <a:extLst xmlns:a="http://schemas.openxmlformats.org/drawingml/2006/main">
              <a:ext uri="{FF2B5EF4-FFF2-40B4-BE49-F238E27FC236}">
                <a16:creationId xmlns:a16="http://schemas.microsoft.com/office/drawing/2014/main" id="{4A3D7459-3DD9-4C4B-8855-32170E2DADA4}"/>
              </a:ext>
            </a:extLst>
          </p:cNvPr>
          <p:cNvSpPr>
            <a:spLocks xmlns:a="http://schemas.openxmlformats.org/drawingml/2006/main" noGrp="1"/>
          </p:cNvSpPr>
          <p:nvPr/>
        </p:nvSpPr>
        <p:spPr>
          <a:xfrm xmlns:a="http://schemas.openxmlformats.org/drawingml/2006/main">
            <a:off x="742950" y="4371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Límite de la evidencia</a:t>
            </a:r>
          </a:p>
        </p:txBody>
      </p:sp>
      <p:sp>
        <p:nvSpPr>
          <p:cNvPr id="36" name="Text 10">
            <a:extLst xmlns:a="http://schemas.openxmlformats.org/drawingml/2006/main">
              <a:ext uri="{FF2B5EF4-FFF2-40B4-BE49-F238E27FC236}">
                <a16:creationId xmlns:a16="http://schemas.microsoft.com/office/drawing/2014/main" id="{E7C360FA-82A5-4322-B8D7-21953E6BDCBF}"/>
              </a:ext>
            </a:extLst>
          </p:cNvPr>
          <p:cNvSpPr>
            <a:spLocks xmlns:a="http://schemas.openxmlformats.org/drawingml/2006/main" noGrp="1"/>
          </p:cNvSpPr>
          <p:nvPr/>
        </p:nvSpPr>
        <p:spPr>
          <a:xfrm xmlns:a="http://schemas.openxmlformats.org/drawingml/2006/main">
            <a:off x="742950" y="4762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Los logs describen HTTP. La integración eBPF/Tetragon queda como trabajo futuro.</a:t>
            </a:r>
          </a:p>
        </p:txBody>
      </p:sp>
      <p:sp>
        <p:nvSpPr>
          <p:cNvPr id="37" name="Text 11">
            <a:extLst xmlns:a="http://schemas.openxmlformats.org/drawingml/2006/main">
              <a:ext uri="{FF2B5EF4-FFF2-40B4-BE49-F238E27FC236}">
                <a16:creationId xmlns:a16="http://schemas.microsoft.com/office/drawing/2014/main" id="{7CF0BB2D-61F9-468A-934D-25D51F89138C}"/>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ad72b6d609cd43ce"/>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F87F7FD1-C902-412C-9516-C527767B9ACD}"/>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4</a:t>
            </a:r>
          </a:p>
        </p:txBody>
      </p:sp>
      <p:sp>
        <p:nvSpPr>
          <p:cNvPr id="28" name="Text 2">
            <a:extLst xmlns:a="http://schemas.openxmlformats.org/drawingml/2006/main">
              <a:ext uri="{FF2B5EF4-FFF2-40B4-BE49-F238E27FC236}">
                <a16:creationId xmlns:a16="http://schemas.microsoft.com/office/drawing/2014/main" id="{02EE2CD1-AB16-415B-845A-B13F6D8A32D1}"/>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FUNDAMENTOS</a:t>
            </a:r>
          </a:p>
        </p:txBody>
      </p:sp>
      <p:sp>
        <p:nvSpPr>
          <p:cNvPr id="29" name="Text 3">
            <a:extLst xmlns:a="http://schemas.openxmlformats.org/drawingml/2006/main">
              <a:ext uri="{FF2B5EF4-FFF2-40B4-BE49-F238E27FC236}">
                <a16:creationId xmlns:a16="http://schemas.microsoft.com/office/drawing/2014/main" id="{A319E55C-57D4-4F1F-96D7-06F0D2306BCD}"/>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La entrada puede alterar una consulta</a:t>
            </a:r>
          </a:p>
        </p:txBody>
      </p:sp>
      <p:sp>
        <p:nvSpPr>
          <p:cNvPr id="30" name="Text 4">
            <a:extLst xmlns:a="http://schemas.openxmlformats.org/drawingml/2006/main">
              <a:ext uri="{FF2B5EF4-FFF2-40B4-BE49-F238E27FC236}">
                <a16:creationId xmlns:a16="http://schemas.microsoft.com/office/drawing/2014/main" id="{DD6467B9-3214-45CA-9B39-04018806DFBB}"/>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Ejemplo didáctico en un contexto numérico</a:t>
            </a:r>
          </a:p>
        </p:txBody>
      </p:sp>
      <p:sp>
        <p:nvSpPr>
          <p:cNvPr id="31" name="Text 5">
            <a:extLst xmlns:a="http://schemas.openxmlformats.org/drawingml/2006/main">
              <a:ext uri="{FF2B5EF4-FFF2-40B4-BE49-F238E27FC236}">
                <a16:creationId xmlns:a16="http://schemas.microsoft.com/office/drawing/2014/main" id="{4A2235A6-4AFC-49C5-AADD-DC3E82360343}"/>
              </a:ext>
            </a:extLst>
          </p:cNvPr>
          <p:cNvSpPr>
            <a:spLocks xmlns:a="http://schemas.openxmlformats.org/drawingml/2006/main" noGrp="1"/>
          </p:cNvSpPr>
          <p:nvPr/>
        </p:nvSpPr>
        <p:spPr>
          <a:xfrm xmlns:a="http://schemas.openxmlformats.org/drawingml/2006/main">
            <a:off x="742950" y="2095500"/>
            <a:ext cx="9810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Concatenación vulnerable</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unsafeQuery := "SELECT name FROM users WHERE id = " + input</a:t>
            </a:r>
          </a:p>
          <a:p xmlns:a="http://schemas.openxmlformats.org/drawingml/2006/main">
            <a:r>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Valor legítimo</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input = "1"</a:t>
            </a:r>
          </a:p>
          <a:p xmlns:a="http://schemas.openxmlformats.org/drawingml/2006/main">
            <a:r>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Valor que añade una condición</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input = "1 AND 1=2"</a:t>
            </a:r>
          </a:p>
        </p:txBody>
      </p:sp>
      <p:sp>
        <p:nvSpPr>
          <p:cNvPr id="32" name="Text 6">
            <a:extLst xmlns:a="http://schemas.openxmlformats.org/drawingml/2006/main">
              <a:ext uri="{FF2B5EF4-FFF2-40B4-BE49-F238E27FC236}">
                <a16:creationId xmlns:a16="http://schemas.microsoft.com/office/drawing/2014/main" id="{198CB610-4F73-4CC8-BC7C-9AA385D9DBDC}"/>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d02943f28b85433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2F8DE34D-9F0D-4D26-9071-4C22AB17593D}"/>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5</a:t>
            </a:r>
          </a:p>
        </p:txBody>
      </p:sp>
      <p:sp>
        <p:nvSpPr>
          <p:cNvPr id="28" name="Text 2">
            <a:extLst xmlns:a="http://schemas.openxmlformats.org/drawingml/2006/main">
              <a:ext uri="{FF2B5EF4-FFF2-40B4-BE49-F238E27FC236}">
                <a16:creationId xmlns:a16="http://schemas.microsoft.com/office/drawing/2014/main" id="{220630EC-7EC2-4CE7-BBDD-B4AFA78976D3}"/>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CONTEXTO DE LA PRUEBA</a:t>
            </a:r>
          </a:p>
        </p:txBody>
      </p:sp>
      <p:sp>
        <p:nvSpPr>
          <p:cNvPr id="29" name="Text 3">
            <a:extLst xmlns:a="http://schemas.openxmlformats.org/drawingml/2006/main">
              <a:ext uri="{FF2B5EF4-FFF2-40B4-BE49-F238E27FC236}">
                <a16:creationId xmlns:a16="http://schemas.microsoft.com/office/drawing/2014/main" id="{49E07A11-318C-4D13-8F71-629C7F10D98A}"/>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DVWA Low y Medium</a:t>
            </a:r>
          </a:p>
        </p:txBody>
      </p:sp>
      <p:sp>
        <p:nvSpPr>
          <p:cNvPr id="30" name="Text 4">
            <a:extLst xmlns:a="http://schemas.openxmlformats.org/drawingml/2006/main">
              <a:ext uri="{FF2B5EF4-FFF2-40B4-BE49-F238E27FC236}">
                <a16:creationId xmlns:a16="http://schemas.microsoft.com/office/drawing/2014/main" id="{CE9F1AC5-F439-44A3-9FAF-48A8D0BCA98B}"/>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El método HTTP y el contexto del valor cambian el payload</a:t>
            </a:r>
          </a:p>
        </p:txBody>
      </p:sp>
      <p:graphicFrame>
        <p:nvGraphicFramePr>
          <p:cNvPr id="39" name=""/>
          <p:cNvGraphicFramePr/>
          <p:nvPr/>
        </p:nvGraphicFramePr>
        <p:xfrm>
          <a:off xmlns:a="http://schemas.openxmlformats.org/drawingml/2006/main" x="742950" y="2085975"/>
          <a:ext xmlns:a="http://schemas.openxmlformats.org/drawingml/2006/main" cx="9810750" cy="3209925"/>
        </p:xfrm>
        <a:graphic xmlns:a="http://schemas.openxmlformats.org/drawingml/2006/main">
          <a:graphicData uri="http://schemas.openxmlformats.org/drawingml/2006/table">
            <a:tbl>
              <a:tblPr/>
              <a:tblGrid>
                <a:gridCol w="3270250"/>
                <a:gridCol w="3270250"/>
                <a:gridCol w="3270250"/>
              </a:tblGrid>
              <a:tr h="534988">
                <a:tc>
                  <a:txBody>
                    <a:bodyPr/>
                    <a:lstStyle/>
                    <a:p>
                      <a:r>
                        <a:rPr sz="1575" b="1">
                          <a:solidFill>
                            <a:srgbClr val="FFFFFF"/>
                          </a:solidFill>
                          <a:latin typeface="Arial"/>
                          <a:ea typeface="Arial"/>
                          <a:cs typeface="Arial"/>
                        </a:rPr>
                        <a:t>Aspecto</a:t>
                      </a:r>
                    </a:p>
                  </a:txBody>
                  <a:tcPr marL="114300" marR="114300" marT="95250" marB="76200">
                    <a:solidFill>
                      <a:srgbClr val="070E46"/>
                    </a:solidFill>
                  </a:tcPr>
                </a:tc>
                <a:tc>
                  <a:txBody>
                    <a:bodyPr/>
                    <a:lstStyle/>
                    <a:p>
                      <a:r>
                        <a:rPr sz="1575" b="1">
                          <a:solidFill>
                            <a:srgbClr val="FFFFFF"/>
                          </a:solidFill>
                          <a:latin typeface="Arial"/>
                          <a:ea typeface="Arial"/>
                          <a:cs typeface="Arial"/>
                        </a:rPr>
                        <a:t>Low</a:t>
                      </a:r>
                    </a:p>
                  </a:txBody>
                  <a:tcPr marL="114300" marR="114300" marT="95250" marB="76200">
                    <a:solidFill>
                      <a:srgbClr val="070E46"/>
                    </a:solidFill>
                  </a:tcPr>
                </a:tc>
                <a:tc>
                  <a:txBody>
                    <a:bodyPr/>
                    <a:lstStyle/>
                    <a:p>
                      <a:r>
                        <a:rPr sz="1575" b="1">
                          <a:solidFill>
                            <a:srgbClr val="FFFFFF"/>
                          </a:solidFill>
                          <a:latin typeface="Arial"/>
                          <a:ea typeface="Arial"/>
                          <a:cs typeface="Arial"/>
                        </a:rPr>
                        <a:t>Medium</a:t>
                      </a:r>
                    </a:p>
                  </a:txBody>
                  <a:tcPr marL="114300" marR="114300" marT="95250" marB="76200">
                    <a:solidFill>
                      <a:srgbClr val="070E46"/>
                    </a:solidFill>
                  </a:tcPr>
                </a:tc>
              </a:tr>
              <a:tr h="534988">
                <a:tc>
                  <a:txBody>
                    <a:bodyPr/>
                    <a:lstStyle/>
                    <a:p>
                      <a:r>
                        <a:rPr sz="1575">
                          <a:solidFill>
                            <a:srgbClr val="444444"/>
                          </a:solidFill>
                          <a:latin typeface="Arial"/>
                          <a:ea typeface="Arial"/>
                          <a:cs typeface="Arial"/>
                        </a:rPr>
                        <a:t>Método del motor</a:t>
                      </a:r>
                    </a:p>
                  </a:txBody>
                  <a:tcPr marL="114300" marR="114300" marT="95250" marB="76200">
                    <a:solidFill>
                      <a:srgbClr val="FFFFFF"/>
                    </a:solidFill>
                  </a:tcPr>
                </a:tc>
                <a:tc>
                  <a:txBody>
                    <a:bodyPr/>
                    <a:lstStyle/>
                    <a:p>
                      <a:r>
                        <a:rPr sz="1575">
                          <a:solidFill>
                            <a:srgbClr val="444444"/>
                          </a:solidFill>
                          <a:latin typeface="Arial"/>
                          <a:ea typeface="Arial"/>
                          <a:cs typeface="Arial"/>
                        </a:rPr>
                        <a:t>GET</a:t>
                      </a:r>
                    </a:p>
                  </a:txBody>
                  <a:tcPr marL="114300" marR="114300" marT="95250" marB="76200">
                    <a:solidFill>
                      <a:srgbClr val="FFFFFF"/>
                    </a:solidFill>
                  </a:tcPr>
                </a:tc>
                <a:tc>
                  <a:txBody>
                    <a:bodyPr/>
                    <a:lstStyle/>
                    <a:p>
                      <a:r>
                        <a:rPr sz="1575">
                          <a:solidFill>
                            <a:srgbClr val="444444"/>
                          </a:solidFill>
                          <a:latin typeface="Arial"/>
                          <a:ea typeface="Arial"/>
                          <a:cs typeface="Arial"/>
                        </a:rPr>
                        <a:t>POST</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Contexto de id</a:t>
                      </a:r>
                    </a:p>
                  </a:txBody>
                  <a:tcPr marL="114300" marR="114300" marT="95250" marB="76200">
                    <a:solidFill>
                      <a:srgbClr val="FFFFFF"/>
                    </a:solidFill>
                  </a:tcPr>
                </a:tc>
                <a:tc>
                  <a:txBody>
                    <a:bodyPr/>
                    <a:lstStyle/>
                    <a:p>
                      <a:r>
                        <a:rPr sz="1575">
                          <a:solidFill>
                            <a:srgbClr val="444444"/>
                          </a:solidFill>
                          <a:latin typeface="Arial"/>
                          <a:ea typeface="Arial"/>
                          <a:cs typeface="Arial"/>
                        </a:rPr>
                        <a:t>Valor entre comillas</a:t>
                      </a:r>
                    </a:p>
                  </a:txBody>
                  <a:tcPr marL="114300" marR="114300" marT="95250" marB="76200">
                    <a:solidFill>
                      <a:srgbClr val="FFFFFF"/>
                    </a:solidFill>
                  </a:tcPr>
                </a:tc>
                <a:tc>
                  <a:txBody>
                    <a:bodyPr/>
                    <a:lstStyle/>
                    <a:p>
                      <a:r>
                        <a:rPr sz="1575">
                          <a:solidFill>
                            <a:srgbClr val="444444"/>
                          </a:solidFill>
                          <a:latin typeface="Arial"/>
                          <a:ea typeface="Arial"/>
                          <a:cs typeface="Arial"/>
                        </a:rPr>
                        <a:t>Valor numérico sin comillas</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Condición verdadera</a:t>
                      </a:r>
                    </a:p>
                  </a:txBody>
                  <a:tcPr marL="114300" marR="114300" marT="95250" marB="76200">
                    <a:solidFill>
                      <a:srgbClr val="FFFFFF"/>
                    </a:solidFill>
                  </a:tcPr>
                </a:tc>
                <a:tc>
                  <a:txBody>
                    <a:bodyPr/>
                    <a:lstStyle/>
                    <a:p>
                      <a:r>
                        <a:rPr sz="1575">
                          <a:solidFill>
                            <a:srgbClr val="444444"/>
                          </a:solidFill>
                          <a:latin typeface="Arial"/>
                          <a:ea typeface="Arial"/>
                          <a:cs typeface="Arial"/>
                        </a:rPr>
                        <a:t>1' AND '1'='1</a:t>
                      </a:r>
                    </a:p>
                  </a:txBody>
                  <a:tcPr marL="114300" marR="114300" marT="95250" marB="76200">
                    <a:solidFill>
                      <a:srgbClr val="FFFFFF"/>
                    </a:solidFill>
                  </a:tcPr>
                </a:tc>
                <a:tc>
                  <a:txBody>
                    <a:bodyPr/>
                    <a:lstStyle/>
                    <a:p>
                      <a:r>
                        <a:rPr sz="1575">
                          <a:solidFill>
                            <a:srgbClr val="444444"/>
                          </a:solidFill>
                          <a:latin typeface="Arial"/>
                          <a:ea typeface="Arial"/>
                          <a:cs typeface="Arial"/>
                        </a:rPr>
                        <a:t>1 AND 1=1</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Condición falsa</a:t>
                      </a:r>
                    </a:p>
                  </a:txBody>
                  <a:tcPr marL="114300" marR="114300" marT="95250" marB="76200">
                    <a:solidFill>
                      <a:srgbClr val="FFFFFF"/>
                    </a:solidFill>
                  </a:tcPr>
                </a:tc>
                <a:tc>
                  <a:txBody>
                    <a:bodyPr/>
                    <a:lstStyle/>
                    <a:p>
                      <a:r>
                        <a:rPr sz="1575">
                          <a:solidFill>
                            <a:srgbClr val="444444"/>
                          </a:solidFill>
                          <a:latin typeface="Arial"/>
                          <a:ea typeface="Arial"/>
                          <a:cs typeface="Arial"/>
                        </a:rPr>
                        <a:t>1' AND '1'='2</a:t>
                      </a:r>
                    </a:p>
                  </a:txBody>
                  <a:tcPr marL="114300" marR="114300" marT="95250" marB="76200">
                    <a:solidFill>
                      <a:srgbClr val="FFFFFF"/>
                    </a:solidFill>
                  </a:tcPr>
                </a:tc>
                <a:tc>
                  <a:txBody>
                    <a:bodyPr/>
                    <a:lstStyle/>
                    <a:p>
                      <a:r>
                        <a:rPr sz="1575">
                          <a:solidFill>
                            <a:srgbClr val="444444"/>
                          </a:solidFill>
                          <a:latin typeface="Arial"/>
                          <a:ea typeface="Arial"/>
                          <a:cs typeface="Arial"/>
                        </a:rPr>
                        <a:t>1 AND 1=2</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Comparación</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Registros de la respuesta</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Registros de la respuesta</a:t>
                      </a:r>
                    </a:p>
                  </a:txBody>
                  <a:tcPr marL="114300" marR="114300" marT="95250" marB="76200">
                    <a:lnB w="9525">
                      <a:solidFill>
                        <a:srgbClr val="D6D6D6"/>
                      </a:solidFill>
                    </a:lnB>
                    <a:solidFill>
                      <a:srgbClr val="FFFFFF"/>
                    </a:solidFill>
                  </a:tcPr>
                </a:tc>
              </a:tr>
            </a:tbl>
          </a:graphicData>
        </a:graphic>
      </p:graphicFrame>
      <p:sp>
        <p:nvSpPr>
          <p:cNvPr id="32" name="Text 5">
            <a:extLst xmlns:a="http://schemas.openxmlformats.org/drawingml/2006/main">
              <a:ext uri="{FF2B5EF4-FFF2-40B4-BE49-F238E27FC236}">
                <a16:creationId xmlns:a16="http://schemas.microsoft.com/office/drawing/2014/main" id="{53188640-AC4E-4E2E-9773-C3A388ACB532}"/>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59957cfa73cb4ad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77358D4B-93B3-4B6E-BC80-81717FABD848}"/>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6</a:t>
            </a:r>
          </a:p>
        </p:txBody>
      </p:sp>
      <p:sp>
        <p:nvSpPr>
          <p:cNvPr id="28" name="Text 2">
            <a:extLst xmlns:a="http://schemas.openxmlformats.org/drawingml/2006/main">
              <a:ext uri="{FF2B5EF4-FFF2-40B4-BE49-F238E27FC236}">
                <a16:creationId xmlns:a16="http://schemas.microsoft.com/office/drawing/2014/main" id="{06947B38-1C9C-4517-A3F6-6D13A1B2BE92}"/>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ARQUITECTURA</a:t>
            </a:r>
          </a:p>
        </p:txBody>
      </p:sp>
      <p:sp>
        <p:nvSpPr>
          <p:cNvPr id="29" name="Text 3">
            <a:extLst xmlns:a="http://schemas.openxmlformats.org/drawingml/2006/main">
              <a:ext uri="{FF2B5EF4-FFF2-40B4-BE49-F238E27FC236}">
                <a16:creationId xmlns:a16="http://schemas.microsoft.com/office/drawing/2014/main" id="{DB9EE334-8544-4315-8DD8-E9E05F85FDE0}"/>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Servicios del proyecto</a:t>
            </a:r>
          </a:p>
        </p:txBody>
      </p:sp>
      <p:sp>
        <p:nvSpPr>
          <p:cNvPr id="30" name="Text 4">
            <a:extLst xmlns:a="http://schemas.openxmlformats.org/drawingml/2006/main">
              <a:ext uri="{FF2B5EF4-FFF2-40B4-BE49-F238E27FC236}">
                <a16:creationId xmlns:a16="http://schemas.microsoft.com/office/drawing/2014/main" id="{D4D9FB4E-53DB-46D5-9714-5BD105C63788}"/>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React presenta la evidencia que el backend Go guarda en MySQL</a:t>
            </a:r>
          </a:p>
        </p:txBody>
      </p:sp>
      <p:graphicFrame>
        <p:nvGraphicFramePr>
          <p:cNvPr id="39" name=""/>
          <p:cNvGraphicFramePr/>
          <p:nvPr/>
        </p:nvGraphicFramePr>
        <p:xfrm>
          <a:off xmlns:a="http://schemas.openxmlformats.org/drawingml/2006/main" x="742950" y="2085975"/>
          <a:ext xmlns:a="http://schemas.openxmlformats.org/drawingml/2006/main" cx="9810750" cy="3209925"/>
        </p:xfrm>
        <a:graphic xmlns:a="http://schemas.openxmlformats.org/drawingml/2006/main">
          <a:graphicData uri="http://schemas.openxmlformats.org/drawingml/2006/table">
            <a:tbl>
              <a:tblPr/>
              <a:tblGrid>
                <a:gridCol w="2190750"/>
                <a:gridCol w="5524500"/>
                <a:gridCol w="2095500"/>
              </a:tblGrid>
              <a:tr h="534988">
                <a:tc>
                  <a:txBody>
                    <a:bodyPr/>
                    <a:lstStyle/>
                    <a:p>
                      <a:r>
                        <a:rPr sz="1575" b="1">
                          <a:solidFill>
                            <a:srgbClr val="FFFFFF"/>
                          </a:solidFill>
                          <a:latin typeface="Arial"/>
                          <a:ea typeface="Arial"/>
                          <a:cs typeface="Arial"/>
                        </a:rPr>
                        <a:t>Servicio</a:t>
                      </a:r>
                    </a:p>
                  </a:txBody>
                  <a:tcPr marL="114300" marR="114300" marT="95250" marB="76200">
                    <a:solidFill>
                      <a:srgbClr val="070E46"/>
                    </a:solidFill>
                  </a:tcPr>
                </a:tc>
                <a:tc>
                  <a:txBody>
                    <a:bodyPr/>
                    <a:lstStyle/>
                    <a:p>
                      <a:r>
                        <a:rPr sz="1575" b="1">
                          <a:solidFill>
                            <a:srgbClr val="FFFFFF"/>
                          </a:solidFill>
                          <a:latin typeface="Arial"/>
                          <a:ea typeface="Arial"/>
                          <a:cs typeface="Arial"/>
                        </a:rPr>
                        <a:t>Responsabilidad</a:t>
                      </a:r>
                    </a:p>
                  </a:txBody>
                  <a:tcPr marL="114300" marR="114300" marT="95250" marB="76200">
                    <a:solidFill>
                      <a:srgbClr val="070E46"/>
                    </a:solidFill>
                  </a:tcPr>
                </a:tc>
                <a:tc>
                  <a:txBody>
                    <a:bodyPr/>
                    <a:lstStyle/>
                    <a:p>
                      <a:r>
                        <a:rPr sz="1575" b="1">
                          <a:solidFill>
                            <a:srgbClr val="FFFFFF"/>
                          </a:solidFill>
                          <a:latin typeface="Arial"/>
                          <a:ea typeface="Arial"/>
                          <a:cs typeface="Arial"/>
                        </a:rPr>
                        <a:t>Acceso</a:t>
                      </a:r>
                    </a:p>
                  </a:txBody>
                  <a:tcPr marL="114300" marR="114300" marT="95250" marB="76200">
                    <a:solidFill>
                      <a:srgbClr val="070E46"/>
                    </a:solidFill>
                  </a:tcPr>
                </a:tc>
              </a:tr>
              <a:tr h="534988">
                <a:tc>
                  <a:txBody>
                    <a:bodyPr/>
                    <a:lstStyle/>
                    <a:p>
                      <a:r>
                        <a:rPr sz="1575">
                          <a:solidFill>
                            <a:srgbClr val="444444"/>
                          </a:solidFill>
                          <a:latin typeface="Arial"/>
                          <a:ea typeface="Arial"/>
                          <a:cs typeface="Arial"/>
                        </a:rPr>
                        <a:t>frontend</a:t>
                      </a:r>
                    </a:p>
                  </a:txBody>
                  <a:tcPr marL="114300" marR="114300" marT="95250" marB="76200">
                    <a:solidFill>
                      <a:srgbClr val="FFFFFF"/>
                    </a:solidFill>
                  </a:tcPr>
                </a:tc>
                <a:tc>
                  <a:txBody>
                    <a:bodyPr/>
                    <a:lstStyle/>
                    <a:p>
                      <a:r>
                        <a:rPr sz="1575">
                          <a:solidFill>
                            <a:srgbClr val="444444"/>
                          </a:solidFill>
                          <a:latin typeface="Arial"/>
                          <a:ea typeface="Arial"/>
                          <a:cs typeface="Arial"/>
                        </a:rPr>
                        <a:t>Interfaz, envío y actualización del escaneo</a:t>
                      </a:r>
                    </a:p>
                  </a:txBody>
                  <a:tcPr marL="114300" marR="114300" marT="95250" marB="76200">
                    <a:solidFill>
                      <a:srgbClr val="FFFFFF"/>
                    </a:solidFill>
                  </a:tcPr>
                </a:tc>
                <a:tc>
                  <a:txBody>
                    <a:bodyPr/>
                    <a:lstStyle/>
                    <a:p>
                      <a:r>
                        <a:rPr sz="1575">
                          <a:solidFill>
                            <a:srgbClr val="444444"/>
                          </a:solidFill>
                          <a:latin typeface="Arial"/>
                          <a:ea typeface="Arial"/>
                          <a:cs typeface="Arial"/>
                        </a:rPr>
                        <a:t>localhost:3000</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backend</a:t>
                      </a:r>
                    </a:p>
                  </a:txBody>
                  <a:tcPr marL="114300" marR="114300" marT="95250" marB="76200">
                    <a:solidFill>
                      <a:srgbClr val="FFFFFF"/>
                    </a:solidFill>
                  </a:tcPr>
                </a:tc>
                <a:tc>
                  <a:txBody>
                    <a:bodyPr/>
                    <a:lstStyle/>
                    <a:p>
                      <a:r>
                        <a:rPr sz="1575">
                          <a:solidFill>
                            <a:srgbClr val="444444"/>
                          </a:solidFill>
                          <a:latin typeface="Arial"/>
                          <a:ea typeface="Arial"/>
                          <a:cs typeface="Arial"/>
                        </a:rPr>
                        <a:t>API, sesión DVWA y motor HTTP</a:t>
                      </a:r>
                    </a:p>
                  </a:txBody>
                  <a:tcPr marL="114300" marR="114300" marT="95250" marB="76200">
                    <a:solidFill>
                      <a:srgbClr val="FFFFFF"/>
                    </a:solidFill>
                  </a:tcPr>
                </a:tc>
                <a:tc>
                  <a:txBody>
                    <a:bodyPr/>
                    <a:lstStyle/>
                    <a:p>
                      <a:r>
                        <a:rPr sz="1575">
                          <a:solidFill>
                            <a:srgbClr val="444444"/>
                          </a:solidFill>
                          <a:latin typeface="Arial"/>
                          <a:ea typeface="Arial"/>
                          <a:cs typeface="Arial"/>
                        </a:rPr>
                        <a:t>localhost:8080</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scanner-db</a:t>
                      </a:r>
                    </a:p>
                  </a:txBody>
                  <a:tcPr marL="114300" marR="114300" marT="95250" marB="76200">
                    <a:solidFill>
                      <a:srgbClr val="FFFFFF"/>
                    </a:solidFill>
                  </a:tcPr>
                </a:tc>
                <a:tc>
                  <a:txBody>
                    <a:bodyPr/>
                    <a:lstStyle/>
                    <a:p>
                      <a:r>
                        <a:rPr sz="1575">
                          <a:solidFill>
                            <a:srgbClr val="444444"/>
                          </a:solidFill>
                          <a:latin typeface="Arial"/>
                          <a:ea typeface="Arial"/>
                          <a:cs typeface="Arial"/>
                        </a:rPr>
                        <a:t>Escaneos, eventos y hallazgos</a:t>
                      </a:r>
                    </a:p>
                  </a:txBody>
                  <a:tcPr marL="114300" marR="114300" marT="95250" marB="76200">
                    <a:solidFill>
                      <a:srgbClr val="FFFFFF"/>
                    </a:solidFill>
                  </a:tcPr>
                </a:tc>
                <a:tc>
                  <a:txBody>
                    <a:bodyPr/>
                    <a:lstStyle/>
                    <a:p>
                      <a:r>
                        <a:rPr sz="1575">
                          <a:solidFill>
                            <a:srgbClr val="444444"/>
                          </a:solidFill>
                          <a:latin typeface="Arial"/>
                          <a:ea typeface="Arial"/>
                          <a:cs typeface="Arial"/>
                        </a:rPr>
                        <a:t>Red interna</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dvwa</a:t>
                      </a:r>
                    </a:p>
                  </a:txBody>
                  <a:tcPr marL="114300" marR="114300" marT="95250" marB="76200">
                    <a:solidFill>
                      <a:srgbClr val="FFFFFF"/>
                    </a:solidFill>
                  </a:tcPr>
                </a:tc>
                <a:tc>
                  <a:txBody>
                    <a:bodyPr/>
                    <a:lstStyle/>
                    <a:p>
                      <a:r>
                        <a:rPr sz="1575">
                          <a:solidFill>
                            <a:srgbClr val="444444"/>
                          </a:solidFill>
                          <a:latin typeface="Arial"/>
                          <a:ea typeface="Arial"/>
                          <a:cs typeface="Arial"/>
                        </a:rPr>
                        <a:t>Aplicación PHP de entrenamiento</a:t>
                      </a:r>
                    </a:p>
                  </a:txBody>
                  <a:tcPr marL="114300" marR="114300" marT="95250" marB="76200">
                    <a:solidFill>
                      <a:srgbClr val="FFFFFF"/>
                    </a:solidFill>
                  </a:tcPr>
                </a:tc>
                <a:tc>
                  <a:txBody>
                    <a:bodyPr/>
                    <a:lstStyle/>
                    <a:p>
                      <a:r>
                        <a:rPr sz="1575">
                          <a:solidFill>
                            <a:srgbClr val="444444"/>
                          </a:solidFill>
                          <a:latin typeface="Arial"/>
                          <a:ea typeface="Arial"/>
                          <a:cs typeface="Arial"/>
                        </a:rPr>
                        <a:t>localhost:8000</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dvwa-db / dvwa-init</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Datos de DVWA e inicialización</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Red interna</a:t>
                      </a:r>
                    </a:p>
                  </a:txBody>
                  <a:tcPr marL="114300" marR="114300" marT="95250" marB="76200">
                    <a:lnB w="9525">
                      <a:solidFill>
                        <a:srgbClr val="D6D6D6"/>
                      </a:solidFill>
                    </a:lnB>
                    <a:solidFill>
                      <a:srgbClr val="FFFFFF"/>
                    </a:solidFill>
                  </a:tcPr>
                </a:tc>
              </a:tr>
            </a:tbl>
          </a:graphicData>
        </a:graphic>
      </p:graphicFrame>
      <p:sp>
        <p:nvSpPr>
          <p:cNvPr id="32" name="Text 5">
            <a:extLst xmlns:a="http://schemas.openxmlformats.org/drawingml/2006/main">
              <a:ext uri="{FF2B5EF4-FFF2-40B4-BE49-F238E27FC236}">
                <a16:creationId xmlns:a16="http://schemas.microsoft.com/office/drawing/2014/main" id="{5C6293D1-0ABD-478F-9969-CF4B8FE0E355}"/>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cbd96ba05bcc46c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284B87F5-7594-4BB2-9350-F35A9ADACD03}"/>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7</a:t>
            </a:r>
          </a:p>
        </p:txBody>
      </p:sp>
      <p:sp>
        <p:nvSpPr>
          <p:cNvPr id="28" name="Text 2">
            <a:extLst xmlns:a="http://schemas.openxmlformats.org/drawingml/2006/main">
              <a:ext uri="{FF2B5EF4-FFF2-40B4-BE49-F238E27FC236}">
                <a16:creationId xmlns:a16="http://schemas.microsoft.com/office/drawing/2014/main" id="{79DD1CDA-5603-4778-B484-782CD609FD03}"/>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ENTORNO</a:t>
            </a:r>
          </a:p>
        </p:txBody>
      </p:sp>
      <p:sp>
        <p:nvSpPr>
          <p:cNvPr id="29" name="Text 3">
            <a:extLst xmlns:a="http://schemas.openxmlformats.org/drawingml/2006/main">
              <a:ext uri="{FF2B5EF4-FFF2-40B4-BE49-F238E27FC236}">
                <a16:creationId xmlns:a16="http://schemas.microsoft.com/office/drawing/2014/main" id="{3D496C9A-0B2E-44E1-8E17-8722D3454C67}"/>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Preparación para la demostración</a:t>
            </a:r>
          </a:p>
        </p:txBody>
      </p:sp>
      <p:sp>
        <p:nvSpPr>
          <p:cNvPr id="30" name="Text 4">
            <a:extLst xmlns:a="http://schemas.openxmlformats.org/drawingml/2006/main">
              <a:ext uri="{FF2B5EF4-FFF2-40B4-BE49-F238E27FC236}">
                <a16:creationId xmlns:a16="http://schemas.microsoft.com/office/drawing/2014/main" id="{C65C7ED1-6283-47A3-9E43-46B9D050E337}"/>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En desarrollo, Vite y el backend Docker utilizan servicios distintos</a:t>
            </a:r>
          </a:p>
        </p:txBody>
      </p:sp>
      <p:sp>
        <p:nvSpPr>
          <p:cNvPr id="31" name="Text 5">
            <a:extLst xmlns:a="http://schemas.openxmlformats.org/drawingml/2006/main">
              <a:ext uri="{FF2B5EF4-FFF2-40B4-BE49-F238E27FC236}">
                <a16:creationId xmlns:a16="http://schemas.microsoft.com/office/drawing/2014/main" id="{C85B8FA1-FD87-4B56-A02B-D4F5A83BEB60}"/>
              </a:ext>
            </a:extLst>
          </p:cNvPr>
          <p:cNvSpPr>
            <a:spLocks xmlns:a="http://schemas.openxmlformats.org/drawingml/2006/main" noGrp="1"/>
          </p:cNvSpPr>
          <p:nvPr/>
        </p:nvSpPr>
        <p:spPr>
          <a:xfrm xmlns:a="http://schemas.openxmlformats.org/drawingml/2006/main">
            <a:off x="742950" y="2095500"/>
            <a:ext cx="9810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Desde la raíz del proyecto</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docker compose -f compose.yaml up -d --build backend</a:t>
            </a:r>
          </a:p>
          <a:p xmlns:a="http://schemas.openxmlformats.org/drawingml/2006/main">
            <a:r>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En otra terminal, desde frontend/</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npm run dev</a:t>
            </a:r>
          </a:p>
          <a:p xmlns:a="http://schemas.openxmlformats.org/drawingml/2006/main">
            <a:r>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App:     http://localhost:3000</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DVWA:    http://localhost:8000</a:t>
            </a:r>
          </a:p>
        </p:txBody>
      </p:sp>
      <p:sp>
        <p:nvSpPr>
          <p:cNvPr id="32" name="Text 6">
            <a:extLst xmlns:a="http://schemas.openxmlformats.org/drawingml/2006/main">
              <a:ext uri="{FF2B5EF4-FFF2-40B4-BE49-F238E27FC236}">
                <a16:creationId xmlns:a16="http://schemas.microsoft.com/office/drawing/2014/main" id="{97EC8560-C9A8-45A6-8E8A-9A76A62D3BBF}"/>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a65681f294b54e9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934ADDCA-562F-42DA-8F54-2F33437C1EB1}"/>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8</a:t>
            </a:r>
          </a:p>
        </p:txBody>
      </p:sp>
      <p:sp>
        <p:nvSpPr>
          <p:cNvPr id="28" name="Text 2">
            <a:extLst xmlns:a="http://schemas.openxmlformats.org/drawingml/2006/main">
              <a:ext uri="{FF2B5EF4-FFF2-40B4-BE49-F238E27FC236}">
                <a16:creationId xmlns:a16="http://schemas.microsoft.com/office/drawing/2014/main" id="{4F92B8CB-387A-44C2-94C0-2AE2C68AE366}"/>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DEMO 1</a:t>
            </a:r>
          </a:p>
        </p:txBody>
      </p:sp>
      <p:sp>
        <p:nvSpPr>
          <p:cNvPr id="29" name="Text 3">
            <a:extLst xmlns:a="http://schemas.openxmlformats.org/drawingml/2006/main">
              <a:ext uri="{FF2B5EF4-FFF2-40B4-BE49-F238E27FC236}">
                <a16:creationId xmlns:a16="http://schemas.microsoft.com/office/drawing/2014/main" id="{A839E626-99BD-4FF2-B3ED-12B4016B3B8C}"/>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Laboratorio en DVWA Medium</a:t>
            </a:r>
          </a:p>
        </p:txBody>
      </p:sp>
      <p:sp>
        <p:nvSpPr>
          <p:cNvPr id="30" name="Text 4">
            <a:extLst xmlns:a="http://schemas.openxmlformats.org/drawingml/2006/main">
              <a:ext uri="{FF2B5EF4-FFF2-40B4-BE49-F238E27FC236}">
                <a16:creationId xmlns:a16="http://schemas.microsoft.com/office/drawing/2014/main" id="{5DCCB492-B957-44DC-8F3C-569EF1C85F0D}"/>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Pantalla principal: aplicación en localhost:3000</a:t>
            </a:r>
          </a:p>
        </p:txBody>
      </p:sp>
      <p:sp>
        <p:nvSpPr>
          <p:cNvPr id="31" name="Text 5">
            <a:extLst xmlns:a="http://schemas.openxmlformats.org/drawingml/2006/main">
              <a:ext uri="{FF2B5EF4-FFF2-40B4-BE49-F238E27FC236}">
                <a16:creationId xmlns:a16="http://schemas.microsoft.com/office/drawing/2014/main" id="{66E7B8F7-8CBD-403E-B771-9E2A7957594E}"/>
              </a:ext>
            </a:extLst>
          </p:cNvPr>
          <p:cNvSpPr>
            <a:spLocks xmlns:a="http://schemas.openxmlformats.org/drawingml/2006/main" noGrp="1"/>
          </p:cNvSpPr>
          <p:nvPr/>
        </p:nvSpPr>
        <p:spPr>
          <a:xfrm xmlns:a="http://schemas.openxmlformats.org/drawingml/2006/main">
            <a:off x="742950" y="21050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70E46"/>
                </a:solidFill>
                <a:latin typeface="Arial"/>
                <a:ea typeface="Arial"/>
                <a:cs typeface="Arial"/>
              </a:defRPr>
            </a:pPr>
            <a:r>
              <a:rPr sz="1875" b="1">
                <a:solidFill>
                  <a:srgbClr val="070E46"/>
                </a:solidFill>
                <a:latin typeface="Arial"/>
                <a:ea typeface="Arial"/>
                <a:cs typeface="Arial"/>
              </a:rPr>
              <a:t>1. Laboratorio y nivel Medium</a:t>
            </a:r>
          </a:p>
        </p:txBody>
      </p:sp>
      <p:sp>
        <p:nvSpPr>
          <p:cNvPr id="32" name="Text 6">
            <a:extLst xmlns:a="http://schemas.openxmlformats.org/drawingml/2006/main">
              <a:ext uri="{FF2B5EF4-FFF2-40B4-BE49-F238E27FC236}">
                <a16:creationId xmlns:a16="http://schemas.microsoft.com/office/drawing/2014/main" id="{B5624DAD-7B7E-4D47-A637-F00CD230458A}"/>
              </a:ext>
            </a:extLst>
          </p:cNvPr>
          <p:cNvSpPr>
            <a:spLocks xmlns:a="http://schemas.openxmlformats.org/drawingml/2006/main" noGrp="1"/>
          </p:cNvSpPr>
          <p:nvPr/>
        </p:nvSpPr>
        <p:spPr>
          <a:xfrm xmlns:a="http://schemas.openxmlformats.org/drawingml/2006/main">
            <a:off x="742950" y="27908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2. Iniciar escaneo y seguir los logs</a:t>
            </a:r>
          </a:p>
        </p:txBody>
      </p:sp>
      <p:sp>
        <p:nvSpPr>
          <p:cNvPr id="33" name="Text 7">
            <a:extLst xmlns:a="http://schemas.openxmlformats.org/drawingml/2006/main">
              <a:ext uri="{FF2B5EF4-FFF2-40B4-BE49-F238E27FC236}">
                <a16:creationId xmlns:a16="http://schemas.microsoft.com/office/drawing/2014/main" id="{11027FE4-2583-4AAC-A644-C8A5DA1DA3A8}"/>
              </a:ext>
            </a:extLst>
          </p:cNvPr>
          <p:cNvSpPr>
            <a:spLocks xmlns:a="http://schemas.openxmlformats.org/drawingml/2006/main" noGrp="1"/>
          </p:cNvSpPr>
          <p:nvPr/>
        </p:nvSpPr>
        <p:spPr>
          <a:xfrm xmlns:a="http://schemas.openxmlformats.org/drawingml/2006/main">
            <a:off x="742950" y="34766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3. Abrir la comparación booleana</a:t>
            </a:r>
          </a:p>
        </p:txBody>
      </p:sp>
      <p:sp>
        <p:nvSpPr>
          <p:cNvPr id="34" name="Text 8">
            <a:extLst xmlns:a="http://schemas.openxmlformats.org/drawingml/2006/main">
              <a:ext uri="{FF2B5EF4-FFF2-40B4-BE49-F238E27FC236}">
                <a16:creationId xmlns:a16="http://schemas.microsoft.com/office/drawing/2014/main" id="{69677B22-A626-4FE9-8049-8F14DECEFAFA}"/>
              </a:ext>
            </a:extLst>
          </p:cNvPr>
          <p:cNvSpPr>
            <a:spLocks xmlns:a="http://schemas.openxmlformats.org/drawingml/2006/main" noGrp="1"/>
          </p:cNvSpPr>
          <p:nvPr/>
        </p:nvSpPr>
        <p:spPr>
          <a:xfrm xmlns:a="http://schemas.openxmlformats.org/drawingml/2006/main">
            <a:off x="742950" y="41624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4. Leer método POST y registros base, verdadero y falso</a:t>
            </a:r>
          </a:p>
        </p:txBody>
      </p:sp>
      <p:sp>
        <p:nvSpPr>
          <p:cNvPr id="35" name="Text 9">
            <a:extLst xmlns:a="http://schemas.openxmlformats.org/drawingml/2006/main">
              <a:ext uri="{FF2B5EF4-FFF2-40B4-BE49-F238E27FC236}">
                <a16:creationId xmlns:a16="http://schemas.microsoft.com/office/drawing/2014/main" id="{03BCB462-05A9-4B0A-83E0-537BA952C53B}"/>
              </a:ext>
            </a:extLst>
          </p:cNvPr>
          <p:cNvSpPr>
            <a:spLocks xmlns:a="http://schemas.openxmlformats.org/drawingml/2006/main" noGrp="1"/>
          </p:cNvSpPr>
          <p:nvPr/>
        </p:nvSpPr>
        <p:spPr>
          <a:xfrm xmlns:a="http://schemas.openxmlformats.org/drawingml/2006/main">
            <a:off x="742950" y="5219700"/>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70E46"/>
                </a:solidFill>
                <a:latin typeface="Arial"/>
                <a:ea typeface="Arial"/>
                <a:cs typeface="Arial"/>
              </a:defRPr>
            </a:pPr>
            <a:r>
              <a:rPr sz="1500" b="1">
                <a:solidFill>
                  <a:srgbClr val="070E46"/>
                </a:solidFill>
                <a:latin typeface="Arial"/>
                <a:ea typeface="Arial"/>
                <a:cs typeface="Arial"/>
              </a:rPr>
              <a:t>En vivo: navegador</a:t>
            </a:r>
          </a:p>
        </p:txBody>
      </p:sp>
      <p:sp>
        <p:nvSpPr>
          <p:cNvPr id="36" name="Text 10">
            <a:extLst xmlns:a="http://schemas.openxmlformats.org/drawingml/2006/main">
              <a:ext uri="{FF2B5EF4-FFF2-40B4-BE49-F238E27FC236}">
                <a16:creationId xmlns:a16="http://schemas.microsoft.com/office/drawing/2014/main" id="{6743084B-9428-4335-85EA-DD06A8CA5FE6}"/>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1148b616a9dd464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A171CD14-4717-4FA1-8408-55529E8F91CC}"/>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9</a:t>
            </a:r>
          </a:p>
        </p:txBody>
      </p:sp>
      <p:sp>
        <p:nvSpPr>
          <p:cNvPr id="28" name="Text 2">
            <a:extLst xmlns:a="http://schemas.openxmlformats.org/drawingml/2006/main">
              <a:ext uri="{FF2B5EF4-FFF2-40B4-BE49-F238E27FC236}">
                <a16:creationId xmlns:a16="http://schemas.microsoft.com/office/drawing/2014/main" id="{7FA00102-772B-4534-88F6-ACBB6D544CDC}"/>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EVIDENCIA REAL</a:t>
            </a:r>
          </a:p>
        </p:txBody>
      </p:sp>
      <p:sp>
        <p:nvSpPr>
          <p:cNvPr id="29" name="Text 3">
            <a:extLst xmlns:a="http://schemas.openxmlformats.org/drawingml/2006/main">
              <a:ext uri="{FF2B5EF4-FFF2-40B4-BE49-F238E27FC236}">
                <a16:creationId xmlns:a16="http://schemas.microsoft.com/office/drawing/2014/main" id="{7E13C4BE-8259-4931-8F91-B56E4D965EDF}"/>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Una ejecución del laboratorio</a:t>
            </a:r>
          </a:p>
        </p:txBody>
      </p:sp>
      <p:sp>
        <p:nvSpPr>
          <p:cNvPr id="30" name="Text 4">
            <a:extLst xmlns:a="http://schemas.openxmlformats.org/drawingml/2006/main">
              <a:ext uri="{FF2B5EF4-FFF2-40B4-BE49-F238E27FC236}">
                <a16:creationId xmlns:a16="http://schemas.microsoft.com/office/drawing/2014/main" id="{D0CF9E9E-7403-4F6D-95FC-604B9F4330ED}"/>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Captura de la app sobre DVWA Medium</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9580f8171924d05"/>
          <a:srcRect xmlns:a="http://schemas.openxmlformats.org/drawingml/2006/main" l="0" t="23333" r="0" b="23333"/>
          <a:stretch xmlns:a="http://schemas.openxmlformats.org/drawingml/2006/main">
            <a:fillRect l="0" t="0" r="0" b="0"/>
          </a:stretch>
        </p:blipFill>
        <p:spPr>
          <a:xfrm xmlns:a="http://schemas.openxmlformats.org/drawingml/2006/main">
            <a:off x="742950" y="2019300"/>
            <a:ext cx="9906000" cy="3714750"/>
          </a:xfrm>
          <a:prstGeom xmlns:a="http://schemas.openxmlformats.org/drawingml/2006/main" prst="rect">
            <a:avLst/>
          </a:prstGeom>
        </p:spPr>
      </p:pic>
      <p:sp>
        <p:nvSpPr>
          <p:cNvPr id="32" name="Text 5">
            <a:extLst xmlns:a="http://schemas.openxmlformats.org/drawingml/2006/main">
              <a:ext uri="{FF2B5EF4-FFF2-40B4-BE49-F238E27FC236}">
                <a16:creationId xmlns:a16="http://schemas.microsoft.com/office/drawing/2014/main" id="{BE37C700-D059-4DA3-A557-EB9E4DDED848}"/>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Captura real del entorno local del proyecto.</a:t>
            </a:r>
          </a:p>
        </p:txBody>
      </p:sp>
    </p:spTree>
    <p:extLst>
      <p:ext uri="{BB962C8B-B14F-4D97-AF65-F5344CB8AC3E}">
        <p14:creationId xmlns:p14="http://schemas.microsoft.com/office/powerpoint/2010/main" val="26651380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d9c39b6fef35454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6EC21508-1398-4774-B495-3BD09B9BF093}"/>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10</a:t>
            </a:r>
          </a:p>
        </p:txBody>
      </p:sp>
      <p:sp>
        <p:nvSpPr>
          <p:cNvPr id="28" name="Text 2">
            <a:extLst xmlns:a="http://schemas.openxmlformats.org/drawingml/2006/main">
              <a:ext uri="{FF2B5EF4-FFF2-40B4-BE49-F238E27FC236}">
                <a16:creationId xmlns:a16="http://schemas.microsoft.com/office/drawing/2014/main" id="{FF273647-D532-4F3B-9D6B-10BFE6F9B30E}"/>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MOTOR HTTP</a:t>
            </a:r>
          </a:p>
        </p:txBody>
      </p:sp>
      <p:sp>
        <p:nvSpPr>
          <p:cNvPr id="29" name="Text 3">
            <a:extLst xmlns:a="http://schemas.openxmlformats.org/drawingml/2006/main">
              <a:ext uri="{FF2B5EF4-FFF2-40B4-BE49-F238E27FC236}">
                <a16:creationId xmlns:a16="http://schemas.microsoft.com/office/drawing/2014/main" id="{8F302899-0A96-4AB4-B45C-2720680F0991}"/>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Seis peticiones, dos pruebas</a:t>
            </a:r>
          </a:p>
        </p:txBody>
      </p:sp>
      <p:sp>
        <p:nvSpPr>
          <p:cNvPr id="30" name="Text 4">
            <a:extLst xmlns:a="http://schemas.openxmlformats.org/drawingml/2006/main">
              <a:ext uri="{FF2B5EF4-FFF2-40B4-BE49-F238E27FC236}">
                <a16:creationId xmlns:a16="http://schemas.microsoft.com/office/drawing/2014/main" id="{DE2EED02-9254-4089-A882-4F74F99CC67B}"/>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Las repeticiones ayudan a comprobar que la diferencia se mantiene</a:t>
            </a:r>
          </a:p>
        </p:txBody>
      </p:sp>
      <p:graphicFrame>
        <p:nvGraphicFramePr>
          <p:cNvPr id="39" name=""/>
          <p:cNvGraphicFramePr/>
          <p:nvPr/>
        </p:nvGraphicFramePr>
        <p:xfrm>
          <a:off xmlns:a="http://schemas.openxmlformats.org/drawingml/2006/main" x="742950" y="2085975"/>
          <a:ext xmlns:a="http://schemas.openxmlformats.org/drawingml/2006/main" cx="9810750" cy="3209925"/>
        </p:xfrm>
        <a:graphic xmlns:a="http://schemas.openxmlformats.org/drawingml/2006/main">
          <a:graphicData uri="http://schemas.openxmlformats.org/drawingml/2006/table">
            <a:tbl>
              <a:tblPr/>
              <a:tblGrid>
                <a:gridCol w="3270250"/>
                <a:gridCol w="3270250"/>
                <a:gridCol w="3270250"/>
              </a:tblGrid>
              <a:tr h="641985">
                <a:tc>
                  <a:txBody>
                    <a:bodyPr/>
                    <a:lstStyle/>
                    <a:p>
                      <a:r>
                        <a:rPr sz="1575" b="1">
                          <a:solidFill>
                            <a:srgbClr val="FFFFFF"/>
                          </a:solidFill>
                          <a:latin typeface="Arial"/>
                          <a:ea typeface="Arial"/>
                          <a:cs typeface="Arial"/>
                        </a:rPr>
                        <a:t>Orden</a:t>
                      </a:r>
                    </a:p>
                  </a:txBody>
                  <a:tcPr marL="114300" marR="114300" marT="95250" marB="76200">
                    <a:solidFill>
                      <a:srgbClr val="070E46"/>
                    </a:solidFill>
                  </a:tcPr>
                </a:tc>
                <a:tc>
                  <a:txBody>
                    <a:bodyPr/>
                    <a:lstStyle/>
                    <a:p>
                      <a:r>
                        <a:rPr sz="1575" b="1">
                          <a:solidFill>
                            <a:srgbClr val="FFFFFF"/>
                          </a:solidFill>
                          <a:latin typeface="Arial"/>
                          <a:ea typeface="Arial"/>
                          <a:cs typeface="Arial"/>
                        </a:rPr>
                        <a:t>Entrada en Medium</a:t>
                      </a:r>
                    </a:p>
                  </a:txBody>
                  <a:tcPr marL="114300" marR="114300" marT="95250" marB="76200">
                    <a:solidFill>
                      <a:srgbClr val="070E46"/>
                    </a:solidFill>
                  </a:tcPr>
                </a:tc>
                <a:tc>
                  <a:txBody>
                    <a:bodyPr/>
                    <a:lstStyle/>
                    <a:p>
                      <a:r>
                        <a:rPr sz="1575" b="1">
                          <a:solidFill>
                            <a:srgbClr val="FFFFFF"/>
                          </a:solidFill>
                          <a:latin typeface="Arial"/>
                          <a:ea typeface="Arial"/>
                          <a:cs typeface="Arial"/>
                        </a:rPr>
                        <a:t>Objetivo</a:t>
                      </a:r>
                    </a:p>
                  </a:txBody>
                  <a:tcPr marL="114300" marR="114300" marT="95250" marB="76200">
                    <a:solidFill>
                      <a:srgbClr val="070E46"/>
                    </a:solidFill>
                  </a:tcPr>
                </a:tc>
              </a:tr>
              <a:tr h="641985">
                <a:tc>
                  <a:txBody>
                    <a:bodyPr/>
                    <a:lstStyle/>
                    <a:p>
                      <a:r>
                        <a:rPr sz="1575">
                          <a:solidFill>
                            <a:srgbClr val="444444"/>
                          </a:solidFill>
                          <a:latin typeface="Arial"/>
                          <a:ea typeface="Arial"/>
                          <a:cs typeface="Arial"/>
                        </a:rPr>
                        <a:t>1</a:t>
                      </a:r>
                    </a:p>
                  </a:txBody>
                  <a:tcPr marL="114300" marR="114300" marT="95250" marB="76200">
                    <a:solidFill>
                      <a:srgbClr val="FFFFFF"/>
                    </a:solidFill>
                  </a:tcPr>
                </a:tc>
                <a:tc>
                  <a:txBody>
                    <a:bodyPr/>
                    <a:lstStyle/>
                    <a:p>
                      <a:r>
                        <a:rPr sz="1575">
                          <a:solidFill>
                            <a:srgbClr val="444444"/>
                          </a:solidFill>
                          <a:latin typeface="Arial"/>
                          <a:ea typeface="Arial"/>
                          <a:cs typeface="Arial"/>
                        </a:rPr>
                        <a:t>id=1</a:t>
                      </a:r>
                    </a:p>
                  </a:txBody>
                  <a:tcPr marL="114300" marR="114300" marT="95250" marB="76200">
                    <a:solidFill>
                      <a:srgbClr val="FFFFFF"/>
                    </a:solidFill>
                  </a:tcPr>
                </a:tc>
                <a:tc>
                  <a:txBody>
                    <a:bodyPr/>
                    <a:lstStyle/>
                    <a:p>
                      <a:r>
                        <a:rPr sz="1575">
                          <a:solidFill>
                            <a:srgbClr val="444444"/>
                          </a:solidFill>
                          <a:latin typeface="Arial"/>
                          <a:ea typeface="Arial"/>
                          <a:cs typeface="Arial"/>
                        </a:rPr>
                        <a:t>Respuesta base</a:t>
                      </a:r>
                    </a:p>
                  </a:txBody>
                  <a:tcPr marL="114300" marR="114300" marT="95250" marB="76200">
                    <a:solidFill>
                      <a:srgbClr val="FFFFFF"/>
                    </a:solidFill>
                  </a:tcPr>
                </a:tc>
              </a:tr>
              <a:tr h="641985">
                <a:tc>
                  <a:txBody>
                    <a:bodyPr/>
                    <a:lstStyle/>
                    <a:p>
                      <a:r>
                        <a:rPr sz="1575">
                          <a:solidFill>
                            <a:srgbClr val="444444"/>
                          </a:solidFill>
                          <a:latin typeface="Arial"/>
                          <a:ea typeface="Arial"/>
                          <a:cs typeface="Arial"/>
                        </a:rPr>
                        <a:t>2</a:t>
                      </a:r>
                    </a:p>
                  </a:txBody>
                  <a:tcPr marL="114300" marR="114300" marT="95250" marB="76200">
                    <a:solidFill>
                      <a:srgbClr val="FFFFFF"/>
                    </a:solidFill>
                  </a:tcPr>
                </a:tc>
                <a:tc>
                  <a:txBody>
                    <a:bodyPr/>
                    <a:lstStyle/>
                    <a:p>
                      <a:r>
                        <a:rPr sz="1575">
                          <a:solidFill>
                            <a:srgbClr val="444444"/>
                          </a:solidFill>
                          <a:latin typeface="Arial"/>
                          <a:ea typeface="Arial"/>
                          <a:cs typeface="Arial"/>
                        </a:rPr>
                        <a:t>id=1'</a:t>
                      </a:r>
                    </a:p>
                  </a:txBody>
                  <a:tcPr marL="114300" marR="114300" marT="95250" marB="76200">
                    <a:solidFill>
                      <a:srgbClr val="FFFFFF"/>
                    </a:solidFill>
                  </a:tcPr>
                </a:tc>
                <a:tc>
                  <a:txBody>
                    <a:bodyPr/>
                    <a:lstStyle/>
                    <a:p>
                      <a:r>
                        <a:rPr sz="1575">
                          <a:solidFill>
                            <a:srgbClr val="444444"/>
                          </a:solidFill>
                          <a:latin typeface="Arial"/>
                          <a:ea typeface="Arial"/>
                          <a:cs typeface="Arial"/>
                        </a:rPr>
                        <a:t>Firma de error SQL</a:t>
                      </a:r>
                    </a:p>
                  </a:txBody>
                  <a:tcPr marL="114300" marR="114300" marT="95250" marB="76200">
                    <a:solidFill>
                      <a:srgbClr val="FFFFFF"/>
                    </a:solidFill>
                  </a:tcPr>
                </a:tc>
              </a:tr>
              <a:tr h="641985">
                <a:tc>
                  <a:txBody>
                    <a:bodyPr/>
                    <a:lstStyle/>
                    <a:p>
                      <a:r>
                        <a:rPr sz="1575">
                          <a:solidFill>
                            <a:srgbClr val="444444"/>
                          </a:solidFill>
                          <a:latin typeface="Arial"/>
                          <a:ea typeface="Arial"/>
                          <a:cs typeface="Arial"/>
                        </a:rPr>
                        <a:t>3 y 5</a:t>
                      </a:r>
                    </a:p>
                  </a:txBody>
                  <a:tcPr marL="114300" marR="114300" marT="95250" marB="76200">
                    <a:solidFill>
                      <a:srgbClr val="FFFFFF"/>
                    </a:solidFill>
                  </a:tcPr>
                </a:tc>
                <a:tc>
                  <a:txBody>
                    <a:bodyPr/>
                    <a:lstStyle/>
                    <a:p>
                      <a:r>
                        <a:rPr sz="1575">
                          <a:solidFill>
                            <a:srgbClr val="444444"/>
                          </a:solidFill>
                          <a:latin typeface="Arial"/>
                          <a:ea typeface="Arial"/>
                          <a:cs typeface="Arial"/>
                        </a:rPr>
                        <a:t>id=1 AND 1=1</a:t>
                      </a:r>
                    </a:p>
                  </a:txBody>
                  <a:tcPr marL="114300" marR="114300" marT="95250" marB="76200">
                    <a:solidFill>
                      <a:srgbClr val="FFFFFF"/>
                    </a:solidFill>
                  </a:tcPr>
                </a:tc>
                <a:tc>
                  <a:txBody>
                    <a:bodyPr/>
                    <a:lstStyle/>
                    <a:p>
                      <a:r>
                        <a:rPr sz="1575">
                          <a:solidFill>
                            <a:srgbClr val="444444"/>
                          </a:solidFill>
                          <a:latin typeface="Arial"/>
                          <a:ea typeface="Arial"/>
                          <a:cs typeface="Arial"/>
                        </a:rPr>
                        <a:t>Condición verdadera repetida</a:t>
                      </a:r>
                    </a:p>
                  </a:txBody>
                  <a:tcPr marL="114300" marR="114300" marT="95250" marB="76200">
                    <a:solidFill>
                      <a:srgbClr val="FFFFFF"/>
                    </a:solidFill>
                  </a:tcPr>
                </a:tc>
              </a:tr>
              <a:tr h="641985">
                <a:tc>
                  <a:txBody>
                    <a:bodyPr/>
                    <a:lstStyle/>
                    <a:p>
                      <a:r>
                        <a:rPr sz="1575">
                          <a:solidFill>
                            <a:srgbClr val="444444"/>
                          </a:solidFill>
                          <a:latin typeface="Arial"/>
                          <a:ea typeface="Arial"/>
                          <a:cs typeface="Arial"/>
                        </a:rPr>
                        <a:t>4 y 6</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id=1 AND 1=2</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Condición falsa repetida</a:t>
                      </a:r>
                    </a:p>
                  </a:txBody>
                  <a:tcPr marL="114300" marR="114300" marT="95250" marB="76200">
                    <a:lnB w="9525">
                      <a:solidFill>
                        <a:srgbClr val="D6D6D6"/>
                      </a:solidFill>
                    </a:lnB>
                    <a:solidFill>
                      <a:srgbClr val="FFFFFF"/>
                    </a:solidFill>
                  </a:tcPr>
                </a:tc>
              </a:tr>
            </a:tbl>
          </a:graphicData>
        </a:graphic>
      </p:graphicFrame>
      <p:sp>
        <p:nvSpPr>
          <p:cNvPr id="32" name="Text 5">
            <a:extLst xmlns:a="http://schemas.openxmlformats.org/drawingml/2006/main">
              <a:ext uri="{FF2B5EF4-FFF2-40B4-BE49-F238E27FC236}">
                <a16:creationId xmlns:a16="http://schemas.microsoft.com/office/drawing/2014/main" id="{C2C70774-CDEE-4BEA-AA72-069B4C1308B9}"/>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8688b6709638402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0523B7CE-A953-4EE4-852B-A610AD6BEBFC}"/>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11</a:t>
            </a:r>
          </a:p>
        </p:txBody>
      </p:sp>
      <p:sp>
        <p:nvSpPr>
          <p:cNvPr id="28" name="Text 2">
            <a:extLst xmlns:a="http://schemas.openxmlformats.org/drawingml/2006/main">
              <a:ext uri="{FF2B5EF4-FFF2-40B4-BE49-F238E27FC236}">
                <a16:creationId xmlns:a16="http://schemas.microsoft.com/office/drawing/2014/main" id="{74A2E203-58D6-4946-97DD-99989984CD4F}"/>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CÓDIGO GO</a:t>
            </a:r>
          </a:p>
        </p:txBody>
      </p:sp>
      <p:sp>
        <p:nvSpPr>
          <p:cNvPr id="29" name="Text 3">
            <a:extLst xmlns:a="http://schemas.openxmlformats.org/drawingml/2006/main">
              <a:ext uri="{FF2B5EF4-FFF2-40B4-BE49-F238E27FC236}">
                <a16:creationId xmlns:a16="http://schemas.microsoft.com/office/drawing/2014/main" id="{143A4542-A0B3-4CDB-A20A-5A54FB9A1658}"/>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Selección del payload según el nivel</a:t>
            </a:r>
          </a:p>
        </p:txBody>
      </p:sp>
      <p:sp>
        <p:nvSpPr>
          <p:cNvPr id="30" name="Text 4">
            <a:extLst xmlns:a="http://schemas.openxmlformats.org/drawingml/2006/main">
              <a:ext uri="{FF2B5EF4-FFF2-40B4-BE49-F238E27FC236}">
                <a16:creationId xmlns:a16="http://schemas.microsoft.com/office/drawing/2014/main" id="{D0E7FADF-40A0-49D8-84F5-D7EE61538949}"/>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Fragmento del motor del laboratorio</a:t>
            </a:r>
          </a:p>
        </p:txBody>
      </p:sp>
      <p:sp>
        <p:nvSpPr>
          <p:cNvPr id="31" name="Text 5">
            <a:extLst xmlns:a="http://schemas.openxmlformats.org/drawingml/2006/main">
              <a:ext uri="{FF2B5EF4-FFF2-40B4-BE49-F238E27FC236}">
                <a16:creationId xmlns:a16="http://schemas.microsoft.com/office/drawing/2014/main" id="{9623FBB8-3651-4AF9-8F14-44B67E4FBDCA}"/>
              </a:ext>
            </a:extLst>
          </p:cNvPr>
          <p:cNvSpPr>
            <a:spLocks xmlns:a="http://schemas.openxmlformats.org/drawingml/2006/main" noGrp="1"/>
          </p:cNvSpPr>
          <p:nvPr/>
        </p:nvSpPr>
        <p:spPr>
          <a:xfrm xmlns:a="http://schemas.openxmlformats.org/drawingml/2006/main">
            <a:off x="742950" y="2095500"/>
            <a:ext cx="9810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trueValue, falseValue := "1' AND '1'='1", "1' AND '1'='2"</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if level == "medium"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trueValue, falseValue = "1 AND 1=1", "1 AND 1=2"</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a:t>
            </a:r>
          </a:p>
          <a:p xmlns:a="http://schemas.openxmlformats.org/drawingml/2006/main">
            <a:r>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trueRows := dvwaRows(trueProbe.Body)</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falseRows := dvwaRows(falseProbe.Body)</a:t>
            </a:r>
          </a:p>
        </p:txBody>
      </p:sp>
      <p:sp>
        <p:nvSpPr>
          <p:cNvPr id="32" name="Text 6">
            <a:extLst xmlns:a="http://schemas.openxmlformats.org/drawingml/2006/main">
              <a:ext uri="{FF2B5EF4-FFF2-40B4-BE49-F238E27FC236}">
                <a16:creationId xmlns:a16="http://schemas.microsoft.com/office/drawing/2014/main" id="{D1D2E5E7-D0D9-4858-9CF7-FC7125A202AB}"/>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cd3a09fdfc024f0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F060038C-B61D-4F27-8932-B3001649264D}"/>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12</a:t>
            </a:r>
          </a:p>
        </p:txBody>
      </p:sp>
      <p:sp>
        <p:nvSpPr>
          <p:cNvPr id="28" name="Text 2">
            <a:extLst xmlns:a="http://schemas.openxmlformats.org/drawingml/2006/main">
              <a:ext uri="{FF2B5EF4-FFF2-40B4-BE49-F238E27FC236}">
                <a16:creationId xmlns:a16="http://schemas.microsoft.com/office/drawing/2014/main" id="{E2B70979-C73A-4161-9098-D8BB4A8F4CCF}"/>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SESIÓN Y CALIDAD DE DATOS</a:t>
            </a:r>
          </a:p>
        </p:txBody>
      </p:sp>
      <p:sp>
        <p:nvSpPr>
          <p:cNvPr id="29" name="Text 3">
            <a:extLst xmlns:a="http://schemas.openxmlformats.org/drawingml/2006/main">
              <a:ext uri="{FF2B5EF4-FFF2-40B4-BE49-F238E27FC236}">
                <a16:creationId xmlns:a16="http://schemas.microsoft.com/office/drawing/2014/main" id="{2CA7814E-0F82-4BC1-BD00-1F27A70504AA}"/>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Una prueba necesita una sesión válida</a:t>
            </a:r>
          </a:p>
        </p:txBody>
      </p:sp>
      <p:sp>
        <p:nvSpPr>
          <p:cNvPr id="30" name="Text 4">
            <a:extLst xmlns:a="http://schemas.openxmlformats.org/drawingml/2006/main">
              <a:ext uri="{FF2B5EF4-FFF2-40B4-BE49-F238E27FC236}">
                <a16:creationId xmlns:a16="http://schemas.microsoft.com/office/drawing/2014/main" id="{AE6228E1-FF07-4E15-A0A6-F67F50134081}"/>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El motor prepara el acceso antes de enviar las sondas</a:t>
            </a:r>
          </a:p>
        </p:txBody>
      </p:sp>
      <p:sp>
        <p:nvSpPr>
          <p:cNvPr id="31" name="Text 5">
            <a:extLst xmlns:a="http://schemas.openxmlformats.org/drawingml/2006/main">
              <a:ext uri="{FF2B5EF4-FFF2-40B4-BE49-F238E27FC236}">
                <a16:creationId xmlns:a16="http://schemas.microsoft.com/office/drawing/2014/main" id="{67B364C5-90CB-4F34-81B8-256FF734CEEA}"/>
              </a:ext>
            </a:extLst>
          </p:cNvPr>
          <p:cNvSpPr>
            <a:spLocks xmlns:a="http://schemas.openxmlformats.org/drawingml/2006/main" noGrp="1"/>
          </p:cNvSpPr>
          <p:nvPr/>
        </p:nvSpPr>
        <p:spPr>
          <a:xfrm xmlns:a="http://schemas.openxmlformats.org/drawingml/2006/main">
            <a:off x="742950" y="2085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Sesión de DVWA</a:t>
            </a:r>
          </a:p>
        </p:txBody>
      </p:sp>
      <p:sp>
        <p:nvSpPr>
          <p:cNvPr id="32" name="Text 6">
            <a:extLst xmlns:a="http://schemas.openxmlformats.org/drawingml/2006/main">
              <a:ext uri="{FF2B5EF4-FFF2-40B4-BE49-F238E27FC236}">
                <a16:creationId xmlns:a16="http://schemas.microsoft.com/office/drawing/2014/main" id="{5BCCA96A-16CA-4BEA-8A4C-3E3DF9E85C45}"/>
              </a:ext>
            </a:extLst>
          </p:cNvPr>
          <p:cNvSpPr>
            <a:spLocks xmlns:a="http://schemas.openxmlformats.org/drawingml/2006/main" noGrp="1"/>
          </p:cNvSpPr>
          <p:nvPr/>
        </p:nvSpPr>
        <p:spPr>
          <a:xfrm xmlns:a="http://schemas.openxmlformats.org/drawingml/2006/main">
            <a:off x="742950" y="2476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Formulario de login, token CSRF y cookies de la sesión.</a:t>
            </a:r>
          </a:p>
        </p:txBody>
      </p:sp>
      <p:sp>
        <p:nvSpPr>
          <p:cNvPr id="33" name="Text 7">
            <a:extLst xmlns:a="http://schemas.openxmlformats.org/drawingml/2006/main">
              <a:ext uri="{FF2B5EF4-FFF2-40B4-BE49-F238E27FC236}">
                <a16:creationId xmlns:a16="http://schemas.microsoft.com/office/drawing/2014/main" id="{3A1FFD22-AD3F-4E1A-B6CD-1CC3E14E27AC}"/>
              </a:ext>
            </a:extLst>
          </p:cNvPr>
          <p:cNvSpPr>
            <a:spLocks xmlns:a="http://schemas.openxmlformats.org/drawingml/2006/main" noGrp="1"/>
          </p:cNvSpPr>
          <p:nvPr/>
        </p:nvSpPr>
        <p:spPr>
          <a:xfrm xmlns:a="http://schemas.openxmlformats.org/drawingml/2006/main">
            <a:off x="742950" y="3228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Nivel confirmado</a:t>
            </a:r>
          </a:p>
        </p:txBody>
      </p:sp>
      <p:sp>
        <p:nvSpPr>
          <p:cNvPr id="34" name="Text 8">
            <a:extLst xmlns:a="http://schemas.openxmlformats.org/drawingml/2006/main">
              <a:ext uri="{FF2B5EF4-FFF2-40B4-BE49-F238E27FC236}">
                <a16:creationId xmlns:a16="http://schemas.microsoft.com/office/drawing/2014/main" id="{98E27597-7B7D-4AE6-A90F-2F9CDC230530}"/>
              </a:ext>
            </a:extLst>
          </p:cNvPr>
          <p:cNvSpPr>
            <a:spLocks xmlns:a="http://schemas.openxmlformats.org/drawingml/2006/main" noGrp="1"/>
          </p:cNvSpPr>
          <p:nvPr/>
        </p:nvSpPr>
        <p:spPr>
          <a:xfrm xmlns:a="http://schemas.openxmlformats.org/drawingml/2006/main">
            <a:off x="742950" y="3619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Configuración de Low o Medium y comprobación de la respuesta.</a:t>
            </a:r>
          </a:p>
        </p:txBody>
      </p:sp>
      <p:sp>
        <p:nvSpPr>
          <p:cNvPr id="35" name="Text 9">
            <a:extLst xmlns:a="http://schemas.openxmlformats.org/drawingml/2006/main">
              <a:ext uri="{FF2B5EF4-FFF2-40B4-BE49-F238E27FC236}">
                <a16:creationId xmlns:a16="http://schemas.microsoft.com/office/drawing/2014/main" id="{0F62C026-BDE8-479D-B133-15D02672FAD9}"/>
              </a:ext>
            </a:extLst>
          </p:cNvPr>
          <p:cNvSpPr>
            <a:spLocks xmlns:a="http://schemas.openxmlformats.org/drawingml/2006/main" noGrp="1"/>
          </p:cNvSpPr>
          <p:nvPr/>
        </p:nvSpPr>
        <p:spPr>
          <a:xfrm xmlns:a="http://schemas.openxmlformats.org/drawingml/2006/main">
            <a:off x="742950" y="4371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Registros observados</a:t>
            </a:r>
          </a:p>
        </p:txBody>
      </p:sp>
      <p:sp>
        <p:nvSpPr>
          <p:cNvPr id="36" name="Text 10">
            <a:extLst xmlns:a="http://schemas.openxmlformats.org/drawingml/2006/main">
              <a:ext uri="{FF2B5EF4-FFF2-40B4-BE49-F238E27FC236}">
                <a16:creationId xmlns:a16="http://schemas.microsoft.com/office/drawing/2014/main" id="{0037B33B-E9C8-458E-B71B-07660E71C8EF}"/>
              </a:ext>
            </a:extLst>
          </p:cNvPr>
          <p:cNvSpPr>
            <a:spLocks xmlns:a="http://schemas.openxmlformats.org/drawingml/2006/main" noGrp="1"/>
          </p:cNvSpPr>
          <p:nvPr/>
        </p:nvSpPr>
        <p:spPr>
          <a:xfrm xmlns:a="http://schemas.openxmlformats.org/drawingml/2006/main">
            <a:off x="742950" y="4762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El parser extrae registros HTML y evita comparar solo tokens o entrada reflejada.</a:t>
            </a:r>
          </a:p>
        </p:txBody>
      </p:sp>
      <p:sp>
        <p:nvSpPr>
          <p:cNvPr id="37" name="Text 11">
            <a:extLst xmlns:a="http://schemas.openxmlformats.org/drawingml/2006/main">
              <a:ext uri="{FF2B5EF4-FFF2-40B4-BE49-F238E27FC236}">
                <a16:creationId xmlns:a16="http://schemas.microsoft.com/office/drawing/2014/main" id="{FFA1ACDE-A635-4A90-B840-5ED6F528EB47}"/>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ce66eac3c3704abc"/>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8FE20715-3260-46D3-A716-7CECD13BDBBE}"/>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13</a:t>
            </a:r>
          </a:p>
        </p:txBody>
      </p:sp>
      <p:sp>
        <p:nvSpPr>
          <p:cNvPr id="28" name="Text 2">
            <a:extLst xmlns:a="http://schemas.openxmlformats.org/drawingml/2006/main">
              <a:ext uri="{FF2B5EF4-FFF2-40B4-BE49-F238E27FC236}">
                <a16:creationId xmlns:a16="http://schemas.microsoft.com/office/drawing/2014/main" id="{95F971CF-BCF7-464A-99F2-57B64663C3DF}"/>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DEMO 2</a:t>
            </a:r>
          </a:p>
        </p:txBody>
      </p:sp>
      <p:sp>
        <p:nvSpPr>
          <p:cNvPr id="29" name="Text 3">
            <a:extLst xmlns:a="http://schemas.openxmlformats.org/drawingml/2006/main">
              <a:ext uri="{FF2B5EF4-FFF2-40B4-BE49-F238E27FC236}">
                <a16:creationId xmlns:a16="http://schemas.microsoft.com/office/drawing/2014/main" id="{F08C4370-0C63-41D9-A612-7A13617A4731}"/>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La misma prueba en DVWA Low</a:t>
            </a:r>
          </a:p>
        </p:txBody>
      </p:sp>
      <p:sp>
        <p:nvSpPr>
          <p:cNvPr id="30" name="Text 4">
            <a:extLst xmlns:a="http://schemas.openxmlformats.org/drawingml/2006/main">
              <a:ext uri="{FF2B5EF4-FFF2-40B4-BE49-F238E27FC236}">
                <a16:creationId xmlns:a16="http://schemas.microsoft.com/office/drawing/2014/main" id="{4B292040-ED05-427D-AA8C-BD0215D95F9A}"/>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Pantalla principal: aplicación y evidencia del método GET</a:t>
            </a:r>
          </a:p>
        </p:txBody>
      </p:sp>
      <p:sp>
        <p:nvSpPr>
          <p:cNvPr id="31" name="Text 5">
            <a:extLst xmlns:a="http://schemas.openxmlformats.org/drawingml/2006/main">
              <a:ext uri="{FF2B5EF4-FFF2-40B4-BE49-F238E27FC236}">
                <a16:creationId xmlns:a16="http://schemas.microsoft.com/office/drawing/2014/main" id="{33C573E5-6975-432F-9552-714412BC2BB3}"/>
              </a:ext>
            </a:extLst>
          </p:cNvPr>
          <p:cNvSpPr>
            <a:spLocks xmlns:a="http://schemas.openxmlformats.org/drawingml/2006/main" noGrp="1"/>
          </p:cNvSpPr>
          <p:nvPr/>
        </p:nvSpPr>
        <p:spPr>
          <a:xfrm xmlns:a="http://schemas.openxmlformats.org/drawingml/2006/main">
            <a:off x="742950" y="21050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70E46"/>
                </a:solidFill>
                <a:latin typeface="Arial"/>
                <a:ea typeface="Arial"/>
                <a:cs typeface="Arial"/>
              </a:defRPr>
            </a:pPr>
            <a:r>
              <a:rPr sz="1875" b="1">
                <a:solidFill>
                  <a:srgbClr val="070E46"/>
                </a:solidFill>
                <a:latin typeface="Arial"/>
                <a:ea typeface="Arial"/>
                <a:cs typeface="Arial"/>
              </a:rPr>
              <a:t>1. Cambiar el nivel a Low</a:t>
            </a:r>
          </a:p>
        </p:txBody>
      </p:sp>
      <p:sp>
        <p:nvSpPr>
          <p:cNvPr id="32" name="Text 6">
            <a:extLst xmlns:a="http://schemas.openxmlformats.org/drawingml/2006/main">
              <a:ext uri="{FF2B5EF4-FFF2-40B4-BE49-F238E27FC236}">
                <a16:creationId xmlns:a16="http://schemas.microsoft.com/office/drawing/2014/main" id="{6ECCDB86-5D54-4DBE-8AA8-BDD951ED5FA5}"/>
              </a:ext>
            </a:extLst>
          </p:cNvPr>
          <p:cNvSpPr>
            <a:spLocks xmlns:a="http://schemas.openxmlformats.org/drawingml/2006/main" noGrp="1"/>
          </p:cNvSpPr>
          <p:nvPr/>
        </p:nvSpPr>
        <p:spPr>
          <a:xfrm xmlns:a="http://schemas.openxmlformats.org/drawingml/2006/main">
            <a:off x="742950" y="27908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2. Ejecutar un nuevo escaneo</a:t>
            </a:r>
          </a:p>
        </p:txBody>
      </p:sp>
      <p:sp>
        <p:nvSpPr>
          <p:cNvPr id="33" name="Text 7">
            <a:extLst xmlns:a="http://schemas.openxmlformats.org/drawingml/2006/main">
              <a:ext uri="{FF2B5EF4-FFF2-40B4-BE49-F238E27FC236}">
                <a16:creationId xmlns:a16="http://schemas.microsoft.com/office/drawing/2014/main" id="{711927E4-AA87-4EA3-A725-704748FBACBC}"/>
              </a:ext>
            </a:extLst>
          </p:cNvPr>
          <p:cNvSpPr>
            <a:spLocks xmlns:a="http://schemas.openxmlformats.org/drawingml/2006/main" noGrp="1"/>
          </p:cNvSpPr>
          <p:nvPr/>
        </p:nvSpPr>
        <p:spPr>
          <a:xfrm xmlns:a="http://schemas.openxmlformats.org/drawingml/2006/main">
            <a:off x="742950" y="34766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3. Comparar la URL con el cuerpo POST de Medium</a:t>
            </a:r>
          </a:p>
        </p:txBody>
      </p:sp>
      <p:sp>
        <p:nvSpPr>
          <p:cNvPr id="34" name="Text 8">
            <a:extLst xmlns:a="http://schemas.openxmlformats.org/drawingml/2006/main">
              <a:ext uri="{FF2B5EF4-FFF2-40B4-BE49-F238E27FC236}">
                <a16:creationId xmlns:a16="http://schemas.microsoft.com/office/drawing/2014/main" id="{72BC5310-9745-42D6-9C1A-3F8CEF176A9E}"/>
              </a:ext>
            </a:extLst>
          </p:cNvPr>
          <p:cNvSpPr>
            <a:spLocks xmlns:a="http://schemas.openxmlformats.org/drawingml/2006/main" noGrp="1"/>
          </p:cNvSpPr>
          <p:nvPr/>
        </p:nvSpPr>
        <p:spPr>
          <a:xfrm xmlns:a="http://schemas.openxmlformats.org/drawingml/2006/main">
            <a:off x="742950" y="41624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4. Comprobar el contexto entre comillas</a:t>
            </a:r>
          </a:p>
        </p:txBody>
      </p:sp>
      <p:sp>
        <p:nvSpPr>
          <p:cNvPr id="35" name="Text 9">
            <a:extLst xmlns:a="http://schemas.openxmlformats.org/drawingml/2006/main">
              <a:ext uri="{FF2B5EF4-FFF2-40B4-BE49-F238E27FC236}">
                <a16:creationId xmlns:a16="http://schemas.microsoft.com/office/drawing/2014/main" id="{604A3095-2FF1-4AB7-988C-E855FB568B98}"/>
              </a:ext>
            </a:extLst>
          </p:cNvPr>
          <p:cNvSpPr>
            <a:spLocks xmlns:a="http://schemas.openxmlformats.org/drawingml/2006/main" noGrp="1"/>
          </p:cNvSpPr>
          <p:nvPr/>
        </p:nvSpPr>
        <p:spPr>
          <a:xfrm xmlns:a="http://schemas.openxmlformats.org/drawingml/2006/main">
            <a:off x="742950" y="5219700"/>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70E46"/>
                </a:solidFill>
                <a:latin typeface="Arial"/>
                <a:ea typeface="Arial"/>
                <a:cs typeface="Arial"/>
              </a:defRPr>
            </a:pPr>
            <a:r>
              <a:rPr sz="1500" b="1">
                <a:solidFill>
                  <a:srgbClr val="070E46"/>
                </a:solidFill>
                <a:latin typeface="Arial"/>
                <a:ea typeface="Arial"/>
                <a:cs typeface="Arial"/>
              </a:rPr>
              <a:t>En vivo: navegador</a:t>
            </a:r>
          </a:p>
        </p:txBody>
      </p:sp>
      <p:sp>
        <p:nvSpPr>
          <p:cNvPr id="36" name="Text 10">
            <a:extLst xmlns:a="http://schemas.openxmlformats.org/drawingml/2006/main">
              <a:ext uri="{FF2B5EF4-FFF2-40B4-BE49-F238E27FC236}">
                <a16:creationId xmlns:a16="http://schemas.microsoft.com/office/drawing/2014/main" id="{CAF0BF65-244C-4D1F-A0A7-12C1327317BA}"/>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36eda4187be748e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315230D4-4A06-493C-AB48-E3DC8D5FD0E3}"/>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14</a:t>
            </a:r>
          </a:p>
        </p:txBody>
      </p:sp>
      <p:sp>
        <p:nvSpPr>
          <p:cNvPr id="28" name="Text 2">
            <a:extLst xmlns:a="http://schemas.openxmlformats.org/drawingml/2006/main">
              <a:ext uri="{FF2B5EF4-FFF2-40B4-BE49-F238E27FC236}">
                <a16:creationId xmlns:a16="http://schemas.microsoft.com/office/drawing/2014/main" id="{D199AEE5-CC4A-4F43-9C0A-5C66AF5BF213}"/>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LECTURA DEL RESULTADO</a:t>
            </a:r>
          </a:p>
        </p:txBody>
      </p:sp>
      <p:sp>
        <p:nvSpPr>
          <p:cNvPr id="29" name="Text 3">
            <a:extLst xmlns:a="http://schemas.openxmlformats.org/drawingml/2006/main">
              <a:ext uri="{FF2B5EF4-FFF2-40B4-BE49-F238E27FC236}">
                <a16:creationId xmlns:a16="http://schemas.microsoft.com/office/drawing/2014/main" id="{33C1BAD6-AB20-4248-8D25-48791872C925}"/>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Qué sostiene la detección booleana</a:t>
            </a:r>
          </a:p>
        </p:txBody>
      </p:sp>
      <p:sp>
        <p:nvSpPr>
          <p:cNvPr id="30" name="Text 4">
            <a:extLst xmlns:a="http://schemas.openxmlformats.org/drawingml/2006/main">
              <a:ext uri="{FF2B5EF4-FFF2-40B4-BE49-F238E27FC236}">
                <a16:creationId xmlns:a16="http://schemas.microsoft.com/office/drawing/2014/main" id="{D293CE54-60D4-43E3-BCCE-899DF4E9F647}"/>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El motor compara los registros en dos repeticiones</a:t>
            </a:r>
          </a:p>
        </p:txBody>
      </p:sp>
      <p:graphicFrame>
        <p:nvGraphicFramePr>
          <p:cNvPr id="39" name=""/>
          <p:cNvGraphicFramePr/>
          <p:nvPr/>
        </p:nvGraphicFramePr>
        <p:xfrm>
          <a:off xmlns:a="http://schemas.openxmlformats.org/drawingml/2006/main" x="742950" y="2085975"/>
          <a:ext xmlns:a="http://schemas.openxmlformats.org/drawingml/2006/main" cx="9810750" cy="3209925"/>
        </p:xfrm>
        <a:graphic xmlns:a="http://schemas.openxmlformats.org/drawingml/2006/main">
          <a:graphicData uri="http://schemas.openxmlformats.org/drawingml/2006/table">
            <a:tbl>
              <a:tblPr/>
              <a:tblGrid>
                <a:gridCol w="4905375"/>
                <a:gridCol w="4905375"/>
              </a:tblGrid>
              <a:tr h="534988">
                <a:tc>
                  <a:txBody>
                    <a:bodyPr/>
                    <a:lstStyle/>
                    <a:p>
                      <a:r>
                        <a:rPr sz="1575" b="1">
                          <a:solidFill>
                            <a:srgbClr val="FFFFFF"/>
                          </a:solidFill>
                          <a:latin typeface="Arial"/>
                          <a:ea typeface="Arial"/>
                          <a:cs typeface="Arial"/>
                        </a:rPr>
                        <a:t>Comprobación</a:t>
                      </a:r>
                    </a:p>
                  </a:txBody>
                  <a:tcPr marL="114300" marR="114300" marT="95250" marB="76200">
                    <a:solidFill>
                      <a:srgbClr val="070E46"/>
                    </a:solidFill>
                  </a:tcPr>
                </a:tc>
                <a:tc>
                  <a:txBody>
                    <a:bodyPr/>
                    <a:lstStyle/>
                    <a:p>
                      <a:r>
                        <a:rPr sz="1575" b="1">
                          <a:solidFill>
                            <a:srgbClr val="FFFFFF"/>
                          </a:solidFill>
                          <a:latin typeface="Arial"/>
                          <a:ea typeface="Arial"/>
                          <a:cs typeface="Arial"/>
                        </a:rPr>
                        <a:t>Lectura esperada en el laboratorio</a:t>
                      </a:r>
                    </a:p>
                  </a:txBody>
                  <a:tcPr marL="114300" marR="114300" marT="95250" marB="76200">
                    <a:solidFill>
                      <a:srgbClr val="070E46"/>
                    </a:solidFill>
                  </a:tcPr>
                </a:tc>
              </a:tr>
              <a:tr h="534988">
                <a:tc>
                  <a:txBody>
                    <a:bodyPr/>
                    <a:lstStyle/>
                    <a:p>
                      <a:r>
                        <a:rPr sz="1575">
                          <a:solidFill>
                            <a:srgbClr val="444444"/>
                          </a:solidFill>
                          <a:latin typeface="Arial"/>
                          <a:ea typeface="Arial"/>
                          <a:cs typeface="Arial"/>
                        </a:rPr>
                        <a:t>Base</a:t>
                      </a:r>
                    </a:p>
                  </a:txBody>
                  <a:tcPr marL="114300" marR="114300" marT="95250" marB="76200">
                    <a:solidFill>
                      <a:srgbClr val="FFFFFF"/>
                    </a:solidFill>
                  </a:tcPr>
                </a:tc>
                <a:tc>
                  <a:txBody>
                    <a:bodyPr/>
                    <a:lstStyle/>
                    <a:p>
                      <a:r>
                        <a:rPr sz="1575">
                          <a:solidFill>
                            <a:srgbClr val="444444"/>
                          </a:solidFill>
                          <a:latin typeface="Arial"/>
                          <a:ea typeface="Arial"/>
                          <a:cs typeface="Arial"/>
                        </a:rPr>
                        <a:t>Un registro para id=1</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Verdadera</a:t>
                      </a:r>
                    </a:p>
                  </a:txBody>
                  <a:tcPr marL="114300" marR="114300" marT="95250" marB="76200">
                    <a:solidFill>
                      <a:srgbClr val="FFFFFF"/>
                    </a:solidFill>
                  </a:tcPr>
                </a:tc>
                <a:tc>
                  <a:txBody>
                    <a:bodyPr/>
                    <a:lstStyle/>
                    <a:p>
                      <a:r>
                        <a:rPr sz="1575">
                          <a:solidFill>
                            <a:srgbClr val="444444"/>
                          </a:solidFill>
                          <a:latin typeface="Arial"/>
                          <a:ea typeface="Arial"/>
                          <a:cs typeface="Arial"/>
                        </a:rPr>
                        <a:t>Conserva los registros de la base</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Falsa</a:t>
                      </a:r>
                    </a:p>
                  </a:txBody>
                  <a:tcPr marL="114300" marR="114300" marT="95250" marB="76200">
                    <a:solidFill>
                      <a:srgbClr val="FFFFFF"/>
                    </a:solidFill>
                  </a:tcPr>
                </a:tc>
                <a:tc>
                  <a:txBody>
                    <a:bodyPr/>
                    <a:lstStyle/>
                    <a:p>
                      <a:r>
                        <a:rPr sz="1575">
                          <a:solidFill>
                            <a:srgbClr val="444444"/>
                          </a:solidFill>
                          <a:latin typeface="Arial"/>
                          <a:ea typeface="Arial"/>
                          <a:cs typeface="Arial"/>
                        </a:rPr>
                        <a:t>Devuelve cero registros</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Repeticiones</a:t>
                      </a:r>
                    </a:p>
                  </a:txBody>
                  <a:tcPr marL="114300" marR="114300" marT="95250" marB="76200">
                    <a:solidFill>
                      <a:srgbClr val="FFFFFF"/>
                    </a:solidFill>
                  </a:tcPr>
                </a:tc>
                <a:tc>
                  <a:txBody>
                    <a:bodyPr/>
                    <a:lstStyle/>
                    <a:p>
                      <a:r>
                        <a:rPr sz="1575">
                          <a:solidFill>
                            <a:srgbClr val="444444"/>
                          </a:solidFill>
                          <a:latin typeface="Arial"/>
                          <a:ea typeface="Arial"/>
                          <a:cs typeface="Arial"/>
                        </a:rPr>
                        <a:t>Verdadera y falsa mantienen su resultado</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Alcance</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Evidencia HTTP de alteración del filtro</a:t>
                      </a:r>
                    </a:p>
                  </a:txBody>
                  <a:tcPr marL="114300" marR="114300" marT="95250" marB="76200">
                    <a:lnB w="9525">
                      <a:solidFill>
                        <a:srgbClr val="D6D6D6"/>
                      </a:solidFill>
                    </a:lnB>
                    <a:solidFill>
                      <a:srgbClr val="FFFFFF"/>
                    </a:solidFill>
                  </a:tcPr>
                </a:tc>
              </a:tr>
            </a:tbl>
          </a:graphicData>
        </a:graphic>
      </p:graphicFrame>
      <p:sp>
        <p:nvSpPr>
          <p:cNvPr id="32" name="Text 5">
            <a:extLst xmlns:a="http://schemas.openxmlformats.org/drawingml/2006/main">
              <a:ext uri="{FF2B5EF4-FFF2-40B4-BE49-F238E27FC236}">
                <a16:creationId xmlns:a16="http://schemas.microsoft.com/office/drawing/2014/main" id="{5E095E31-1E19-4F84-B702-533F2A6005FE}"/>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5627a24cdb4c424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0E61BA77-1A1E-4707-B7A2-4B6243C3E673}"/>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15</a:t>
            </a:r>
          </a:p>
        </p:txBody>
      </p:sp>
      <p:sp>
        <p:nvSpPr>
          <p:cNvPr id="28" name="Text 2">
            <a:extLst xmlns:a="http://schemas.openxmlformats.org/drawingml/2006/main">
              <a:ext uri="{FF2B5EF4-FFF2-40B4-BE49-F238E27FC236}">
                <a16:creationId xmlns:a16="http://schemas.microsoft.com/office/drawing/2014/main" id="{9D848719-9A0E-4249-9569-D328BDAE300E}"/>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ANÁLISIS POR URL</a:t>
            </a:r>
          </a:p>
        </p:txBody>
      </p:sp>
      <p:sp>
        <p:nvSpPr>
          <p:cNvPr id="29" name="Text 3">
            <a:extLst xmlns:a="http://schemas.openxmlformats.org/drawingml/2006/main">
              <a:ext uri="{FF2B5EF4-FFF2-40B4-BE49-F238E27FC236}">
                <a16:creationId xmlns:a16="http://schemas.microsoft.com/office/drawing/2014/main" id="{BD0418C8-C3E9-4601-B7BA-0E8D98CF30E4}"/>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La URL define el plan de pruebas</a:t>
            </a:r>
          </a:p>
        </p:txBody>
      </p:sp>
      <p:sp>
        <p:nvSpPr>
          <p:cNvPr id="30" name="Text 4">
            <a:extLst xmlns:a="http://schemas.openxmlformats.org/drawingml/2006/main">
              <a:ext uri="{FF2B5EF4-FFF2-40B4-BE49-F238E27FC236}">
                <a16:creationId xmlns:a16="http://schemas.microsoft.com/office/drawing/2014/main" id="{7E8C0895-4C85-4DB9-8CE1-4029CE889D35}"/>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El flujo externo analiza parámetros GET del destino indicado</a:t>
            </a:r>
          </a:p>
        </p:txBody>
      </p:sp>
      <p:sp>
        <p:nvSpPr>
          <p:cNvPr id="31" name="Text 5">
            <a:extLst xmlns:a="http://schemas.openxmlformats.org/drawingml/2006/main">
              <a:ext uri="{FF2B5EF4-FFF2-40B4-BE49-F238E27FC236}">
                <a16:creationId xmlns:a16="http://schemas.microsoft.com/office/drawing/2014/main" id="{70007351-C7DC-47DC-92F8-E07AE126B3FB}"/>
              </a:ext>
            </a:extLst>
          </p:cNvPr>
          <p:cNvSpPr>
            <a:spLocks xmlns:a="http://schemas.openxmlformats.org/drawingml/2006/main" noGrp="1"/>
          </p:cNvSpPr>
          <p:nvPr/>
        </p:nvSpPr>
        <p:spPr>
          <a:xfrm xmlns:a="http://schemas.openxmlformats.org/drawingml/2006/main">
            <a:off x="742950" y="2085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URL con parámetros</a:t>
            </a:r>
          </a:p>
        </p:txBody>
      </p:sp>
      <p:sp>
        <p:nvSpPr>
          <p:cNvPr id="32" name="Text 6">
            <a:extLst xmlns:a="http://schemas.openxmlformats.org/drawingml/2006/main">
              <a:ext uri="{FF2B5EF4-FFF2-40B4-BE49-F238E27FC236}">
                <a16:creationId xmlns:a16="http://schemas.microsoft.com/office/drawing/2014/main" id="{15F46D60-1230-4B72-9FA0-D616AE5BCB26}"/>
              </a:ext>
            </a:extLst>
          </p:cNvPr>
          <p:cNvSpPr>
            <a:spLocks xmlns:a="http://schemas.openxmlformats.org/drawingml/2006/main" noGrp="1"/>
          </p:cNvSpPr>
          <p:nvPr/>
        </p:nvSpPr>
        <p:spPr>
          <a:xfrm xmlns:a="http://schemas.openxmlformats.org/drawingml/2006/main">
            <a:off x="742950" y="2476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Análisis directo. Texto: dos bases y una comilla. Numérico: además dos pares booleanos.</a:t>
            </a:r>
          </a:p>
        </p:txBody>
      </p:sp>
      <p:sp>
        <p:nvSpPr>
          <p:cNvPr id="33" name="Text 7">
            <a:extLst xmlns:a="http://schemas.openxmlformats.org/drawingml/2006/main">
              <a:ext uri="{FF2B5EF4-FFF2-40B4-BE49-F238E27FC236}">
                <a16:creationId xmlns:a16="http://schemas.microsoft.com/office/drawing/2014/main" id="{7BF4EEAD-4FA0-41F0-B9CA-6013CCBDB8C4}"/>
              </a:ext>
            </a:extLst>
          </p:cNvPr>
          <p:cNvSpPr>
            <a:spLocks xmlns:a="http://schemas.openxmlformats.org/drawingml/2006/main" noGrp="1"/>
          </p:cNvSpPr>
          <p:nvPr/>
        </p:nvSpPr>
        <p:spPr>
          <a:xfrm xmlns:a="http://schemas.openxmlformats.org/drawingml/2006/main">
            <a:off x="742950" y="3228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URL sin parámetros</a:t>
            </a:r>
          </a:p>
        </p:txBody>
      </p:sp>
      <p:sp>
        <p:nvSpPr>
          <p:cNvPr id="34" name="Text 8">
            <a:extLst xmlns:a="http://schemas.openxmlformats.org/drawingml/2006/main">
              <a:ext uri="{FF2B5EF4-FFF2-40B4-BE49-F238E27FC236}">
                <a16:creationId xmlns:a16="http://schemas.microsoft.com/office/drawing/2014/main" id="{6EB2E977-5A77-4B66-862B-740FFDD093A5}"/>
              </a:ext>
            </a:extLst>
          </p:cNvPr>
          <p:cNvSpPr>
            <a:spLocks xmlns:a="http://schemas.openxmlformats.org/drawingml/2006/main" noGrp="1"/>
          </p:cNvSpPr>
          <p:nvPr/>
        </p:nvSpPr>
        <p:spPr>
          <a:xfrm xmlns:a="http://schemas.openxmlformats.org/drawingml/2006/main">
            <a:off x="742950" y="3619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Descubrimiento en hasta cinco páginas del mismo origen. Máximo de ocho candidatos.</a:t>
            </a:r>
          </a:p>
        </p:txBody>
      </p:sp>
      <p:sp>
        <p:nvSpPr>
          <p:cNvPr id="35" name="Text 9">
            <a:extLst xmlns:a="http://schemas.openxmlformats.org/drawingml/2006/main">
              <a:ext uri="{FF2B5EF4-FFF2-40B4-BE49-F238E27FC236}">
                <a16:creationId xmlns:a16="http://schemas.microsoft.com/office/drawing/2014/main" id="{A1557B02-A84F-4BE9-ACAC-1E9BF5D6A9CF}"/>
              </a:ext>
            </a:extLst>
          </p:cNvPr>
          <p:cNvSpPr>
            <a:spLocks xmlns:a="http://schemas.openxmlformats.org/drawingml/2006/main" noGrp="1"/>
          </p:cNvSpPr>
          <p:nvPr/>
        </p:nvSpPr>
        <p:spPr>
          <a:xfrm xmlns:a="http://schemas.openxmlformats.org/drawingml/2006/main">
            <a:off x="742950" y="4371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Peticiones controladas</a:t>
            </a:r>
          </a:p>
        </p:txBody>
      </p:sp>
      <p:sp>
        <p:nvSpPr>
          <p:cNvPr id="36" name="Text 10">
            <a:extLst xmlns:a="http://schemas.openxmlformats.org/drawingml/2006/main">
              <a:ext uri="{FF2B5EF4-FFF2-40B4-BE49-F238E27FC236}">
                <a16:creationId xmlns:a16="http://schemas.microsoft.com/office/drawing/2014/main" id="{F77624F5-05B2-4363-82D3-5A5EE665EF38}"/>
              </a:ext>
            </a:extLst>
          </p:cNvPr>
          <p:cNvSpPr>
            <a:spLocks xmlns:a="http://schemas.openxmlformats.org/drawingml/2006/main" noGrp="1"/>
          </p:cNvSpPr>
          <p:nvPr/>
        </p:nvSpPr>
        <p:spPr>
          <a:xfrm xmlns:a="http://schemas.openxmlformats.org/drawingml/2006/main">
            <a:off x="742950" y="4762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Secuenciales, espera de 300 ms y redirecciones dentro del mismo origen.</a:t>
            </a:r>
          </a:p>
        </p:txBody>
      </p:sp>
      <p:sp>
        <p:nvSpPr>
          <p:cNvPr id="37" name="Text 11">
            <a:extLst xmlns:a="http://schemas.openxmlformats.org/drawingml/2006/main">
              <a:ext uri="{FF2B5EF4-FFF2-40B4-BE49-F238E27FC236}">
                <a16:creationId xmlns:a16="http://schemas.microsoft.com/office/drawing/2014/main" id="{3296150C-782C-4F6A-B39C-E55C1E0B8300}"/>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af00095fd44c46f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25F72E37-217F-4741-9290-803BE5CCDC8C}"/>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16</a:t>
            </a:r>
          </a:p>
        </p:txBody>
      </p:sp>
      <p:sp>
        <p:nvSpPr>
          <p:cNvPr id="28" name="Text 2">
            <a:extLst xmlns:a="http://schemas.openxmlformats.org/drawingml/2006/main">
              <a:ext uri="{FF2B5EF4-FFF2-40B4-BE49-F238E27FC236}">
                <a16:creationId xmlns:a16="http://schemas.microsoft.com/office/drawing/2014/main" id="{FAE0F1F5-8E1B-45CF-9CE9-671449F5439C}"/>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DEMO 3</a:t>
            </a:r>
          </a:p>
        </p:txBody>
      </p:sp>
      <p:sp>
        <p:nvSpPr>
          <p:cNvPr id="29" name="Text 3">
            <a:extLst xmlns:a="http://schemas.openxmlformats.org/drawingml/2006/main">
              <a:ext uri="{FF2B5EF4-FFF2-40B4-BE49-F238E27FC236}">
                <a16:creationId xmlns:a16="http://schemas.microsoft.com/office/drawing/2014/main" id="{8CE35409-B9A4-4A7F-9DF1-141C1D6DC413}"/>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Diagnóstico de una URL sin detección</a:t>
            </a:r>
          </a:p>
        </p:txBody>
      </p:sp>
      <p:sp>
        <p:nvSpPr>
          <p:cNvPr id="30" name="Text 4">
            <a:extLst xmlns:a="http://schemas.openxmlformats.org/drawingml/2006/main">
              <a:ext uri="{FF2B5EF4-FFF2-40B4-BE49-F238E27FC236}">
                <a16:creationId xmlns:a16="http://schemas.microsoft.com/office/drawing/2014/main" id="{2587AB64-227C-4044-8393-BFB4459EB0C7}"/>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El login local sirve para observar HTTP y el payload enviado</a:t>
            </a:r>
          </a:p>
        </p:txBody>
      </p:sp>
      <p:sp>
        <p:nvSpPr>
          <p:cNvPr id="31" name="Text 5">
            <a:extLst xmlns:a="http://schemas.openxmlformats.org/drawingml/2006/main">
              <a:ext uri="{FF2B5EF4-FFF2-40B4-BE49-F238E27FC236}">
                <a16:creationId xmlns:a16="http://schemas.microsoft.com/office/drawing/2014/main" id="{5A131B29-5F26-41D9-A8B4-78F979FF70C0}"/>
              </a:ext>
            </a:extLst>
          </p:cNvPr>
          <p:cNvSpPr>
            <a:spLocks xmlns:a="http://schemas.openxmlformats.org/drawingml/2006/main" noGrp="1"/>
          </p:cNvSpPr>
          <p:nvPr/>
        </p:nvSpPr>
        <p:spPr>
          <a:xfrm xmlns:a="http://schemas.openxmlformats.org/drawingml/2006/main">
            <a:off x="742950" y="21050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70E46"/>
                </a:solidFill>
                <a:latin typeface="Arial"/>
                <a:ea typeface="Arial"/>
                <a:cs typeface="Arial"/>
              </a:defRPr>
            </a:pPr>
            <a:r>
              <a:rPr sz="1875" b="1">
                <a:solidFill>
                  <a:srgbClr val="070E46"/>
                </a:solidFill>
                <a:latin typeface="Arial"/>
                <a:ea typeface="Arial"/>
                <a:cs typeface="Arial"/>
              </a:rPr>
              <a:t>1. Elegir Inyección a una página real</a:t>
            </a:r>
          </a:p>
        </p:txBody>
      </p:sp>
      <p:sp>
        <p:nvSpPr>
          <p:cNvPr id="32" name="Text 6">
            <a:extLst xmlns:a="http://schemas.openxmlformats.org/drawingml/2006/main">
              <a:ext uri="{FF2B5EF4-FFF2-40B4-BE49-F238E27FC236}">
                <a16:creationId xmlns:a16="http://schemas.microsoft.com/office/drawing/2014/main" id="{9779DF7D-A704-4ED1-9F0E-9FD6D4CBA51B}"/>
              </a:ext>
            </a:extLst>
          </p:cNvPr>
          <p:cNvSpPr>
            <a:spLocks xmlns:a="http://schemas.openxmlformats.org/drawingml/2006/main" noGrp="1"/>
          </p:cNvSpPr>
          <p:nvPr/>
        </p:nvSpPr>
        <p:spPr>
          <a:xfrm xmlns:a="http://schemas.openxmlformats.org/drawingml/2006/main">
            <a:off x="742950" y="27908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2. Introducir la URL local indicada abajo</a:t>
            </a:r>
          </a:p>
        </p:txBody>
      </p:sp>
      <p:sp>
        <p:nvSpPr>
          <p:cNvPr id="33" name="Text 7">
            <a:extLst xmlns:a="http://schemas.openxmlformats.org/drawingml/2006/main">
              <a:ext uri="{FF2B5EF4-FFF2-40B4-BE49-F238E27FC236}">
                <a16:creationId xmlns:a16="http://schemas.microsoft.com/office/drawing/2014/main" id="{138DC1D5-D3CF-4DEA-BC3A-6638288C8BAB}"/>
              </a:ext>
            </a:extLst>
          </p:cNvPr>
          <p:cNvSpPr>
            <a:spLocks xmlns:a="http://schemas.openxmlformats.org/drawingml/2006/main" noGrp="1"/>
          </p:cNvSpPr>
          <p:nvPr/>
        </p:nvSpPr>
        <p:spPr>
          <a:xfrm xmlns:a="http://schemas.openxmlformats.org/drawingml/2006/main">
            <a:off x="742950" y="34766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3. Ejecutar y abrir el log de la comilla</a:t>
            </a:r>
          </a:p>
        </p:txBody>
      </p:sp>
      <p:sp>
        <p:nvSpPr>
          <p:cNvPr id="34" name="Text 8">
            <a:extLst xmlns:a="http://schemas.openxmlformats.org/drawingml/2006/main">
              <a:ext uri="{FF2B5EF4-FFF2-40B4-BE49-F238E27FC236}">
                <a16:creationId xmlns:a16="http://schemas.microsoft.com/office/drawing/2014/main" id="{23B00D5E-3332-4F3E-BD55-242A616B5158}"/>
              </a:ext>
            </a:extLst>
          </p:cNvPr>
          <p:cNvSpPr>
            <a:spLocks xmlns:a="http://schemas.openxmlformats.org/drawingml/2006/main" noGrp="1"/>
          </p:cNvSpPr>
          <p:nvPr/>
        </p:nvSpPr>
        <p:spPr>
          <a:xfrm xmlns:a="http://schemas.openxmlformats.org/drawingml/2006/main">
            <a:off x="742950" y="41624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4. Leer comparación, firma SQL y prueba omitida</a:t>
            </a:r>
          </a:p>
        </p:txBody>
      </p:sp>
      <p:sp>
        <p:nvSpPr>
          <p:cNvPr id="35" name="Text 9">
            <a:extLst xmlns:a="http://schemas.openxmlformats.org/drawingml/2006/main">
              <a:ext uri="{FF2B5EF4-FFF2-40B4-BE49-F238E27FC236}">
                <a16:creationId xmlns:a16="http://schemas.microsoft.com/office/drawing/2014/main" id="{62173746-AE2D-444C-994E-56E07E0A6EC6}"/>
              </a:ext>
            </a:extLst>
          </p:cNvPr>
          <p:cNvSpPr>
            <a:spLocks xmlns:a="http://schemas.openxmlformats.org/drawingml/2006/main" noGrp="1"/>
          </p:cNvSpPr>
          <p:nvPr/>
        </p:nvSpPr>
        <p:spPr>
          <a:xfrm xmlns:a="http://schemas.openxmlformats.org/drawingml/2006/main">
            <a:off x="742950" y="509587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0E46"/>
                </a:solidFill>
                <a:latin typeface="Consolas"/>
                <a:ea typeface="Consolas"/>
                <a:cs typeface="Consolas"/>
              </a:defRPr>
            </a:pPr>
            <a:r>
              <a:rPr sz="1575" b="0">
                <a:solidFill>
                  <a:srgbClr val="070E46"/>
                </a:solidFill>
                <a:latin typeface="Consolas"/>
                <a:ea typeface="Consolas"/>
                <a:cs typeface="Consolas"/>
              </a:rPr>
              <a:t>http://host.docker.internal:8000/login.php?flag=failed</a:t>
            </a:r>
          </a:p>
        </p:txBody>
      </p:sp>
      <p:sp>
        <p:nvSpPr>
          <p:cNvPr id="36" name="Text 10">
            <a:extLst xmlns:a="http://schemas.openxmlformats.org/drawingml/2006/main">
              <a:ext uri="{FF2B5EF4-FFF2-40B4-BE49-F238E27FC236}">
                <a16:creationId xmlns:a16="http://schemas.microsoft.com/office/drawing/2014/main" id="{78799D57-B5CF-4A6D-9B02-B9279A696451}"/>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4a0f41bbdc784ac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A5FEF310-D3C1-4AC8-A72E-0BFD1F5DA8F5}"/>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17</a:t>
            </a:r>
          </a:p>
        </p:txBody>
      </p:sp>
      <p:sp>
        <p:nvSpPr>
          <p:cNvPr id="28" name="Text 2">
            <a:extLst xmlns:a="http://schemas.openxmlformats.org/drawingml/2006/main">
              <a:ext uri="{FF2B5EF4-FFF2-40B4-BE49-F238E27FC236}">
                <a16:creationId xmlns:a16="http://schemas.microsoft.com/office/drawing/2014/main" id="{8DF0630E-C954-4419-AE01-B86D30C8DD07}"/>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LOGS DETALLADOS</a:t>
            </a:r>
          </a:p>
        </p:txBody>
      </p:sp>
      <p:sp>
        <p:nvSpPr>
          <p:cNvPr id="29" name="Text 3">
            <a:extLst xmlns:a="http://schemas.openxmlformats.org/drawingml/2006/main">
              <a:ext uri="{FF2B5EF4-FFF2-40B4-BE49-F238E27FC236}">
                <a16:creationId xmlns:a16="http://schemas.microsoft.com/office/drawing/2014/main" id="{3A537653-EE2D-40A5-9DF4-8F11DFD1052D}"/>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El log explica la prueba sin detección</a:t>
            </a:r>
          </a:p>
        </p:txBody>
      </p:sp>
      <p:sp>
        <p:nvSpPr>
          <p:cNvPr id="30" name="Text 4">
            <a:extLst xmlns:a="http://schemas.openxmlformats.org/drawingml/2006/main">
              <a:ext uri="{FF2B5EF4-FFF2-40B4-BE49-F238E27FC236}">
                <a16:creationId xmlns:a16="http://schemas.microsoft.com/office/drawing/2014/main" id="{0BFC9793-0FD1-4ECB-97E3-425C0DC6C057}"/>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Valor original, query enviada y criterios de comparación</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4c80b01abb394a86"/>
          <a:srcRect xmlns:a="http://schemas.openxmlformats.org/drawingml/2006/main" l="0" t="9759" r="0" b="9759"/>
          <a:stretch xmlns:a="http://schemas.openxmlformats.org/drawingml/2006/main">
            <a:fillRect l="0" t="0" r="0" b="0"/>
          </a:stretch>
        </p:blipFill>
        <p:spPr>
          <a:xfrm xmlns:a="http://schemas.openxmlformats.org/drawingml/2006/main">
            <a:off x="5886450" y="2019300"/>
            <a:ext cx="4714875" cy="3857625"/>
          </a:xfrm>
          <a:prstGeom xmlns:a="http://schemas.openxmlformats.org/drawingml/2006/main" prst="rect">
            <a:avLst/>
          </a:prstGeom>
        </p:spPr>
      </p:pic>
      <p:sp>
        <p:nvSpPr>
          <p:cNvPr id="32" name="Text 5">
            <a:extLst xmlns:a="http://schemas.openxmlformats.org/drawingml/2006/main">
              <a:ext uri="{FF2B5EF4-FFF2-40B4-BE49-F238E27FC236}">
                <a16:creationId xmlns:a16="http://schemas.microsoft.com/office/drawing/2014/main" id="{2C2A5ACE-864A-4368-9C2B-B5B14875515B}"/>
              </a:ext>
            </a:extLst>
          </p:cNvPr>
          <p:cNvSpPr>
            <a:spLocks xmlns:a="http://schemas.openxmlformats.org/drawingml/2006/main" noGrp="1"/>
          </p:cNvSpPr>
          <p:nvPr/>
        </p:nvSpPr>
        <p:spPr>
          <a:xfrm xmlns:a="http://schemas.openxmlformats.org/drawingml/2006/main">
            <a:off x="742950" y="21907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70E46"/>
                </a:solidFill>
                <a:latin typeface="Consolas"/>
                <a:ea typeface="Consolas"/>
                <a:cs typeface="Consolas"/>
              </a:defRPr>
            </a:pPr>
            <a:r>
              <a:rPr sz="1875" b="0">
                <a:solidFill>
                  <a:srgbClr val="070E46"/>
                </a:solidFill>
                <a:latin typeface="Consolas"/>
                <a:ea typeface="Consolas"/>
                <a:cs typeface="Consolas"/>
              </a:rPr>
              <a:t>Original: failed</a:t>
            </a:r>
          </a:p>
          <a:p xmlns:a="http://schemas.openxmlformats.org/drawingml/2006/main">
            <a:pPr>
              <a:defRPr sz="1875" b="0">
                <a:solidFill>
                  <a:srgbClr val="070E46"/>
                </a:solidFill>
                <a:latin typeface="Consolas"/>
                <a:ea typeface="Consolas"/>
                <a:cs typeface="Consolas"/>
              </a:defRPr>
            </a:pPr>
            <a:r>
              <a:rPr sz="1875" b="0">
                <a:solidFill>
                  <a:srgbClr val="070E46"/>
                </a:solidFill>
                <a:latin typeface="Consolas"/>
                <a:ea typeface="Consolas"/>
                <a:cs typeface="Consolas"/>
              </a:rPr>
              <a:t>Payload: failed'</a:t>
            </a:r>
          </a:p>
          <a:p xmlns:a="http://schemas.openxmlformats.org/drawingml/2006/main">
            <a:pPr>
              <a:defRPr sz="1875" b="0">
                <a:solidFill>
                  <a:srgbClr val="070E46"/>
                </a:solidFill>
                <a:latin typeface="Consolas"/>
                <a:ea typeface="Consolas"/>
                <a:cs typeface="Consolas"/>
              </a:defRPr>
            </a:pPr>
            <a:r>
              <a:rPr sz="1875" b="0">
                <a:solidFill>
                  <a:srgbClr val="070E46"/>
                </a:solidFill>
                <a:latin typeface="Consolas"/>
                <a:ea typeface="Consolas"/>
                <a:cs typeface="Consolas"/>
              </a:rPr>
              <a:t>Query: flag=failed%27</a:t>
            </a:r>
          </a:p>
        </p:txBody>
      </p:sp>
      <p:sp>
        <p:nvSpPr>
          <p:cNvPr id="33" name="Text 6">
            <a:extLst xmlns:a="http://schemas.openxmlformats.org/drawingml/2006/main">
              <a:ext uri="{FF2B5EF4-FFF2-40B4-BE49-F238E27FC236}">
                <a16:creationId xmlns:a16="http://schemas.microsoft.com/office/drawing/2014/main" id="{C45B2417-17D9-49A8-ACD9-27AD0B5B8CF3}"/>
              </a:ext>
            </a:extLst>
          </p:cNvPr>
          <p:cNvSpPr>
            <a:spLocks xmlns:a="http://schemas.openxmlformats.org/drawingml/2006/main" noGrp="1"/>
          </p:cNvSpPr>
          <p:nvPr/>
        </p:nvSpPr>
        <p:spPr>
          <a:xfrm xmlns:a="http://schemas.openxmlformats.org/drawingml/2006/main">
            <a:off x="742950" y="3838575"/>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HTTP 200 y sin firma SQL nueva.</a:t>
            </a:r>
          </a:p>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La booleana se omite para texto.</a:t>
            </a:r>
          </a:p>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El servidor puede cambiar el contenido sin cambiar los bytes.</a:t>
            </a:r>
          </a:p>
        </p:txBody>
      </p:sp>
      <p:sp>
        <p:nvSpPr>
          <p:cNvPr id="34" name="Text 7">
            <a:extLst xmlns:a="http://schemas.openxmlformats.org/drawingml/2006/main">
              <a:ext uri="{FF2B5EF4-FFF2-40B4-BE49-F238E27FC236}">
                <a16:creationId xmlns:a16="http://schemas.microsoft.com/office/drawing/2014/main" id="{41045DAC-D7DA-4224-8FC8-8AB10C8FA4AF}"/>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Captura real del entorno local del proyecto.</a:t>
            </a:r>
          </a:p>
        </p:txBody>
      </p:sp>
    </p:spTree>
    <p:extLst>
      <p:ext uri="{BB962C8B-B14F-4D97-AF65-F5344CB8AC3E}">
        <p14:creationId xmlns:p14="http://schemas.microsoft.com/office/powerpoint/2010/main" val="26651380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0672bfb2f6a2440a"/>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947046C5-FF64-465C-89B3-0F08F6FD7F2C}"/>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18</a:t>
            </a:r>
          </a:p>
        </p:txBody>
      </p:sp>
      <p:sp>
        <p:nvSpPr>
          <p:cNvPr id="28" name="Text 2">
            <a:extLst xmlns:a="http://schemas.openxmlformats.org/drawingml/2006/main">
              <a:ext uri="{FF2B5EF4-FFF2-40B4-BE49-F238E27FC236}">
                <a16:creationId xmlns:a16="http://schemas.microsoft.com/office/drawing/2014/main" id="{6F7CDD0D-DE9C-4F9F-B4F4-D70560CFD11E}"/>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ESTADOS</a:t>
            </a:r>
          </a:p>
        </p:txBody>
      </p:sp>
      <p:sp>
        <p:nvSpPr>
          <p:cNvPr id="29" name="Text 3">
            <a:extLst xmlns:a="http://schemas.openxmlformats.org/drawingml/2006/main">
              <a:ext uri="{FF2B5EF4-FFF2-40B4-BE49-F238E27FC236}">
                <a16:creationId xmlns:a16="http://schemas.microsoft.com/office/drawing/2014/main" id="{74E47502-A387-4964-A3BC-3217FE239C3B}"/>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Resultado de prueba y estado del escaneo</a:t>
            </a:r>
          </a:p>
        </p:txBody>
      </p:sp>
      <p:sp>
        <p:nvSpPr>
          <p:cNvPr id="30" name="Text 4">
            <a:extLst xmlns:a="http://schemas.openxmlformats.org/drawingml/2006/main">
              <a:ext uri="{FF2B5EF4-FFF2-40B4-BE49-F238E27FC236}">
                <a16:creationId xmlns:a16="http://schemas.microsoft.com/office/drawing/2014/main" id="{86B865C4-3611-4113-87CA-341E884B85E4}"/>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Un fallo de conexión no equivale a un resultado sin detección</a:t>
            </a:r>
          </a:p>
        </p:txBody>
      </p:sp>
      <p:graphicFrame>
        <p:nvGraphicFramePr>
          <p:cNvPr id="39" name=""/>
          <p:cNvGraphicFramePr/>
          <p:nvPr/>
        </p:nvGraphicFramePr>
        <p:xfrm>
          <a:off xmlns:a="http://schemas.openxmlformats.org/drawingml/2006/main" x="742950" y="2085975"/>
          <a:ext xmlns:a="http://schemas.openxmlformats.org/drawingml/2006/main" cx="9810750" cy="3209925"/>
        </p:xfrm>
        <a:graphic xmlns:a="http://schemas.openxmlformats.org/drawingml/2006/main">
          <a:graphicData uri="http://schemas.openxmlformats.org/drawingml/2006/table">
            <a:tbl>
              <a:tblPr/>
              <a:tblGrid>
                <a:gridCol w="4905375"/>
                <a:gridCol w="4905375"/>
              </a:tblGrid>
              <a:tr h="641985">
                <a:tc>
                  <a:txBody>
                    <a:bodyPr/>
                    <a:lstStyle/>
                    <a:p>
                      <a:r>
                        <a:rPr sz="1575" b="1">
                          <a:solidFill>
                            <a:srgbClr val="FFFFFF"/>
                          </a:solidFill>
                          <a:latin typeface="Arial"/>
                          <a:ea typeface="Arial"/>
                          <a:cs typeface="Arial"/>
                        </a:rPr>
                        <a:t>Resultado</a:t>
                      </a:r>
                    </a:p>
                  </a:txBody>
                  <a:tcPr marL="114300" marR="114300" marT="95250" marB="76200">
                    <a:solidFill>
                      <a:srgbClr val="070E46"/>
                    </a:solidFill>
                  </a:tcPr>
                </a:tc>
                <a:tc>
                  <a:txBody>
                    <a:bodyPr/>
                    <a:lstStyle/>
                    <a:p>
                      <a:r>
                        <a:rPr sz="1575" b="1">
                          <a:solidFill>
                            <a:srgbClr val="FFFFFF"/>
                          </a:solidFill>
                          <a:latin typeface="Arial"/>
                          <a:ea typeface="Arial"/>
                          <a:cs typeface="Arial"/>
                        </a:rPr>
                        <a:t>Interpretación</a:t>
                      </a:r>
                    </a:p>
                  </a:txBody>
                  <a:tcPr marL="114300" marR="114300" marT="95250" marB="76200">
                    <a:solidFill>
                      <a:srgbClr val="070E46"/>
                    </a:solidFill>
                  </a:tcPr>
                </a:tc>
              </a:tr>
              <a:tr h="641985">
                <a:tc>
                  <a:txBody>
                    <a:bodyPr/>
                    <a:lstStyle/>
                    <a:p>
                      <a:r>
                        <a:rPr sz="1575">
                          <a:solidFill>
                            <a:srgbClr val="444444"/>
                          </a:solidFill>
                          <a:latin typeface="Arial"/>
                          <a:ea typeface="Arial"/>
                          <a:cs typeface="Arial"/>
                        </a:rPr>
                        <a:t>DETECTED</a:t>
                      </a:r>
                    </a:p>
                  </a:txBody>
                  <a:tcPr marL="114300" marR="114300" marT="95250" marB="76200">
                    <a:solidFill>
                      <a:srgbClr val="FFFFFF"/>
                    </a:solidFill>
                  </a:tcPr>
                </a:tc>
                <a:tc>
                  <a:txBody>
                    <a:bodyPr/>
                    <a:lstStyle/>
                    <a:p>
                      <a:r>
                        <a:rPr sz="1575">
                          <a:solidFill>
                            <a:srgbClr val="444444"/>
                          </a:solidFill>
                          <a:latin typeface="Arial"/>
                          <a:ea typeface="Arial"/>
                          <a:cs typeface="Arial"/>
                        </a:rPr>
                        <a:t>El criterio de la prueba observó evidencia de SQLi</a:t>
                      </a:r>
                    </a:p>
                  </a:txBody>
                  <a:tcPr marL="114300" marR="114300" marT="95250" marB="76200">
                    <a:solidFill>
                      <a:srgbClr val="FFFFFF"/>
                    </a:solidFill>
                  </a:tcPr>
                </a:tc>
              </a:tr>
              <a:tr h="641985">
                <a:tc>
                  <a:txBody>
                    <a:bodyPr/>
                    <a:lstStyle/>
                    <a:p>
                      <a:r>
                        <a:rPr sz="1575">
                          <a:solidFill>
                            <a:srgbClr val="444444"/>
                          </a:solidFill>
                          <a:latin typeface="Arial"/>
                          <a:ea typeface="Arial"/>
                          <a:cs typeface="Arial"/>
                        </a:rPr>
                        <a:t>NOT_DETECTED</a:t>
                      </a:r>
                    </a:p>
                  </a:txBody>
                  <a:tcPr marL="114300" marR="114300" marT="95250" marB="76200">
                    <a:solidFill>
                      <a:srgbClr val="FFFFFF"/>
                    </a:solidFill>
                  </a:tcPr>
                </a:tc>
                <a:tc>
                  <a:txBody>
                    <a:bodyPr/>
                    <a:lstStyle/>
                    <a:p>
                      <a:r>
                        <a:rPr sz="1575">
                          <a:solidFill>
                            <a:srgbClr val="444444"/>
                          </a:solidFill>
                          <a:latin typeface="Arial"/>
                          <a:ea typeface="Arial"/>
                          <a:cs typeface="Arial"/>
                        </a:rPr>
                        <a:t>La prueba terminó sin cumplir el criterio de detección</a:t>
                      </a:r>
                    </a:p>
                  </a:txBody>
                  <a:tcPr marL="114300" marR="114300" marT="95250" marB="76200">
                    <a:solidFill>
                      <a:srgbClr val="FFFFFF"/>
                    </a:solidFill>
                  </a:tcPr>
                </a:tc>
              </a:tr>
              <a:tr h="641985">
                <a:tc>
                  <a:txBody>
                    <a:bodyPr/>
                    <a:lstStyle/>
                    <a:p>
                      <a:r>
                        <a:rPr sz="1575">
                          <a:solidFill>
                            <a:srgbClr val="444444"/>
                          </a:solidFill>
                          <a:latin typeface="Arial"/>
                          <a:ea typeface="Arial"/>
                          <a:cs typeface="Arial"/>
                        </a:rPr>
                        <a:t>INCONCLUSIVE</a:t>
                      </a:r>
                    </a:p>
                  </a:txBody>
                  <a:tcPr marL="114300" marR="114300" marT="95250" marB="76200">
                    <a:solidFill>
                      <a:srgbClr val="FFFFFF"/>
                    </a:solidFill>
                  </a:tcPr>
                </a:tc>
                <a:tc>
                  <a:txBody>
                    <a:bodyPr/>
                    <a:lstStyle/>
                    <a:p>
                      <a:r>
                        <a:rPr sz="1575">
                          <a:solidFill>
                            <a:srgbClr val="444444"/>
                          </a:solidFill>
                          <a:latin typeface="Arial"/>
                          <a:ea typeface="Arial"/>
                          <a:cs typeface="Arial"/>
                        </a:rPr>
                        <a:t>Las respuestas no permiten un veredicto fiable</a:t>
                      </a:r>
                    </a:p>
                  </a:txBody>
                  <a:tcPr marL="114300" marR="114300" marT="95250" marB="76200">
                    <a:solidFill>
                      <a:srgbClr val="FFFFFF"/>
                    </a:solidFill>
                  </a:tcPr>
                </a:tc>
              </a:tr>
              <a:tr h="641985">
                <a:tc>
                  <a:txBody>
                    <a:bodyPr/>
                    <a:lstStyle/>
                    <a:p>
                      <a:r>
                        <a:rPr sz="1575">
                          <a:solidFill>
                            <a:srgbClr val="444444"/>
                          </a:solidFill>
                          <a:latin typeface="Arial"/>
                          <a:ea typeface="Arial"/>
                          <a:cs typeface="Arial"/>
                        </a:rPr>
                        <a:t>FAILED</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El escaneo se interrumpió. Revisar causa y evidencia parcial</a:t>
                      </a:r>
                    </a:p>
                  </a:txBody>
                  <a:tcPr marL="114300" marR="114300" marT="95250" marB="76200">
                    <a:lnB w="9525">
                      <a:solidFill>
                        <a:srgbClr val="D6D6D6"/>
                      </a:solidFill>
                    </a:lnB>
                    <a:solidFill>
                      <a:srgbClr val="FFFFFF"/>
                    </a:solidFill>
                  </a:tcPr>
                </a:tc>
              </a:tr>
            </a:tbl>
          </a:graphicData>
        </a:graphic>
      </p:graphicFrame>
      <p:sp>
        <p:nvSpPr>
          <p:cNvPr id="32" name="Text 5">
            <a:extLst xmlns:a="http://schemas.openxmlformats.org/drawingml/2006/main">
              <a:ext uri="{FF2B5EF4-FFF2-40B4-BE49-F238E27FC236}">
                <a16:creationId xmlns:a16="http://schemas.microsoft.com/office/drawing/2014/main" id="{07336112-26B1-4E43-920B-A84DBEDF17CE}"/>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b016b4f386e7491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10C7C99B-B558-4D72-89A2-6593CAB2EE7C}"/>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19</a:t>
            </a:r>
          </a:p>
        </p:txBody>
      </p:sp>
      <p:sp>
        <p:nvSpPr>
          <p:cNvPr id="28" name="Text 2">
            <a:extLst xmlns:a="http://schemas.openxmlformats.org/drawingml/2006/main">
              <a:ext uri="{FF2B5EF4-FFF2-40B4-BE49-F238E27FC236}">
                <a16:creationId xmlns:a16="http://schemas.microsoft.com/office/drawing/2014/main" id="{B943BC89-398C-4FC8-8918-F6CC688A21F4}"/>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EJERCICIO</a:t>
            </a:r>
          </a:p>
        </p:txBody>
      </p:sp>
      <p:sp>
        <p:nvSpPr>
          <p:cNvPr id="29" name="Text 3">
            <a:extLst xmlns:a="http://schemas.openxmlformats.org/drawingml/2006/main">
              <a:ext uri="{FF2B5EF4-FFF2-40B4-BE49-F238E27FC236}">
                <a16:creationId xmlns:a16="http://schemas.microsoft.com/office/drawing/2014/main" id="{BAD57B70-13EB-461F-94EA-097F9537D8AD}"/>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Interpretación de los logs</a:t>
            </a:r>
          </a:p>
        </p:txBody>
      </p:sp>
      <p:sp>
        <p:nvSpPr>
          <p:cNvPr id="30" name="Text 4">
            <a:extLst xmlns:a="http://schemas.openxmlformats.org/drawingml/2006/main">
              <a:ext uri="{FF2B5EF4-FFF2-40B4-BE49-F238E27FC236}">
                <a16:creationId xmlns:a16="http://schemas.microsoft.com/office/drawing/2014/main" id="{4E08E001-3736-4C16-AF8F-94578F597094}"/>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Dos minutos en parejas y un minuto de puesta en común</a:t>
            </a:r>
          </a:p>
        </p:txBody>
      </p:sp>
      <p:sp>
        <p:nvSpPr>
          <p:cNvPr id="31" name="Text 5">
            <a:extLst xmlns:a="http://schemas.openxmlformats.org/drawingml/2006/main">
              <a:ext uri="{FF2B5EF4-FFF2-40B4-BE49-F238E27FC236}">
                <a16:creationId xmlns:a16="http://schemas.microsoft.com/office/drawing/2014/main" id="{57A1CB68-AFC3-49B8-94EF-CBD43854A5BF}"/>
              </a:ext>
            </a:extLst>
          </p:cNvPr>
          <p:cNvSpPr>
            <a:spLocks xmlns:a="http://schemas.openxmlformats.org/drawingml/2006/main" noGrp="1"/>
          </p:cNvSpPr>
          <p:nvPr/>
        </p:nvSpPr>
        <p:spPr>
          <a:xfrm xmlns:a="http://schemas.openxmlformats.org/drawingml/2006/main">
            <a:off x="742950" y="2085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Caso A</a:t>
            </a:r>
          </a:p>
        </p:txBody>
      </p:sp>
      <p:sp>
        <p:nvSpPr>
          <p:cNvPr id="32" name="Text 6">
            <a:extLst xmlns:a="http://schemas.openxmlformats.org/drawingml/2006/main">
              <a:ext uri="{FF2B5EF4-FFF2-40B4-BE49-F238E27FC236}">
                <a16:creationId xmlns:a16="http://schemas.microsoft.com/office/drawing/2014/main" id="{80168F6A-4FCE-49A1-8EDD-9825A1A3445C}"/>
              </a:ext>
            </a:extLst>
          </p:cNvPr>
          <p:cNvSpPr>
            <a:spLocks xmlns:a="http://schemas.openxmlformats.org/drawingml/2006/main" noGrp="1"/>
          </p:cNvSpPr>
          <p:nvPr/>
        </p:nvSpPr>
        <p:spPr>
          <a:xfrm xmlns:a="http://schemas.openxmlformats.org/drawingml/2006/main">
            <a:off x="742950" y="2476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HTTP 200, diferencia de tamaño +0 bytes, contenido distinto y sin firma SQL nueva.</a:t>
            </a:r>
          </a:p>
        </p:txBody>
      </p:sp>
      <p:sp>
        <p:nvSpPr>
          <p:cNvPr id="33" name="Text 7">
            <a:extLst xmlns:a="http://schemas.openxmlformats.org/drawingml/2006/main">
              <a:ext uri="{FF2B5EF4-FFF2-40B4-BE49-F238E27FC236}">
                <a16:creationId xmlns:a16="http://schemas.microsoft.com/office/drawing/2014/main" id="{DD9CD377-2A98-4B75-9118-08C14487FF9C}"/>
              </a:ext>
            </a:extLst>
          </p:cNvPr>
          <p:cNvSpPr>
            <a:spLocks xmlns:a="http://schemas.openxmlformats.org/drawingml/2006/main" noGrp="1"/>
          </p:cNvSpPr>
          <p:nvPr/>
        </p:nvSpPr>
        <p:spPr>
          <a:xfrm xmlns:a="http://schemas.openxmlformats.org/drawingml/2006/main">
            <a:off x="742950" y="3228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Caso B</a:t>
            </a:r>
          </a:p>
        </p:txBody>
      </p:sp>
      <p:sp>
        <p:nvSpPr>
          <p:cNvPr id="34" name="Text 8">
            <a:extLst xmlns:a="http://schemas.openxmlformats.org/drawingml/2006/main">
              <a:ext uri="{FF2B5EF4-FFF2-40B4-BE49-F238E27FC236}">
                <a16:creationId xmlns:a16="http://schemas.microsoft.com/office/drawing/2014/main" id="{6E592711-CC44-497B-A5A3-E60C442FE045}"/>
              </a:ext>
            </a:extLst>
          </p:cNvPr>
          <p:cNvSpPr>
            <a:spLocks xmlns:a="http://schemas.openxmlformats.org/drawingml/2006/main" noGrp="1"/>
          </p:cNvSpPr>
          <p:nvPr/>
        </p:nvSpPr>
        <p:spPr>
          <a:xfrm xmlns:a="http://schemas.openxmlformats.org/drawingml/2006/main">
            <a:off x="742950" y="3619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Timeout en la petición del payload, sin respuesta completa.</a:t>
            </a:r>
          </a:p>
        </p:txBody>
      </p:sp>
      <p:sp>
        <p:nvSpPr>
          <p:cNvPr id="35" name="Text 9">
            <a:extLst xmlns:a="http://schemas.openxmlformats.org/drawingml/2006/main">
              <a:ext uri="{FF2B5EF4-FFF2-40B4-BE49-F238E27FC236}">
                <a16:creationId xmlns:a16="http://schemas.microsoft.com/office/drawing/2014/main" id="{1CC9298D-8663-4EB6-A890-0BA2077E535B}"/>
              </a:ext>
            </a:extLst>
          </p:cNvPr>
          <p:cNvSpPr>
            <a:spLocks xmlns:a="http://schemas.openxmlformats.org/drawingml/2006/main" noGrp="1"/>
          </p:cNvSpPr>
          <p:nvPr/>
        </p:nvSpPr>
        <p:spPr>
          <a:xfrm xmlns:a="http://schemas.openxmlformats.org/drawingml/2006/main">
            <a:off x="742950" y="4371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Pregunta</a:t>
            </a:r>
          </a:p>
        </p:txBody>
      </p:sp>
      <p:sp>
        <p:nvSpPr>
          <p:cNvPr id="36" name="Text 10">
            <a:extLst xmlns:a="http://schemas.openxmlformats.org/drawingml/2006/main">
              <a:ext uri="{FF2B5EF4-FFF2-40B4-BE49-F238E27FC236}">
                <a16:creationId xmlns:a16="http://schemas.microsoft.com/office/drawing/2014/main" id="{F8FB4012-FF63-4508-8360-EE5769986F4F}"/>
              </a:ext>
            </a:extLst>
          </p:cNvPr>
          <p:cNvSpPr>
            <a:spLocks xmlns:a="http://schemas.openxmlformats.org/drawingml/2006/main" noGrp="1"/>
          </p:cNvSpPr>
          <p:nvPr/>
        </p:nvSpPr>
        <p:spPr>
          <a:xfrm xmlns:a="http://schemas.openxmlformats.org/drawingml/2006/main">
            <a:off x="742950" y="4762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¿Qué resultado corresponde a cada caso y qué evidencia falta para afirmar SQLi?</a:t>
            </a:r>
          </a:p>
        </p:txBody>
      </p:sp>
      <p:sp>
        <p:nvSpPr>
          <p:cNvPr id="37" name="Text 11">
            <a:extLst xmlns:a="http://schemas.openxmlformats.org/drawingml/2006/main">
              <a:ext uri="{FF2B5EF4-FFF2-40B4-BE49-F238E27FC236}">
                <a16:creationId xmlns:a16="http://schemas.microsoft.com/office/drawing/2014/main" id="{3BFDD9B5-1424-4CEE-82B3-F4ED2B1A612D}"/>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dc937b4ed3024b9c"/>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7EBB694A-89A2-4C2C-B7AC-79BA8E296952}"/>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20</a:t>
            </a:r>
          </a:p>
        </p:txBody>
      </p:sp>
      <p:sp>
        <p:nvSpPr>
          <p:cNvPr id="28" name="Text 2">
            <a:extLst xmlns:a="http://schemas.openxmlformats.org/drawingml/2006/main">
              <a:ext uri="{FF2B5EF4-FFF2-40B4-BE49-F238E27FC236}">
                <a16:creationId xmlns:a16="http://schemas.microsoft.com/office/drawing/2014/main" id="{BE865A28-1413-4F24-878E-6CFED4492001}"/>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REMEDIACIÓN</a:t>
            </a:r>
          </a:p>
        </p:txBody>
      </p:sp>
      <p:sp>
        <p:nvSpPr>
          <p:cNvPr id="29" name="Text 3">
            <a:extLst xmlns:a="http://schemas.openxmlformats.org/drawingml/2006/main">
              <a:ext uri="{FF2B5EF4-FFF2-40B4-BE49-F238E27FC236}">
                <a16:creationId xmlns:a16="http://schemas.microsoft.com/office/drawing/2014/main" id="{6CAE94E9-0115-4303-A92B-51ADD87A2F9D}"/>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Consulta parametrizada en Go</a:t>
            </a:r>
          </a:p>
        </p:txBody>
      </p:sp>
      <p:sp>
        <p:nvSpPr>
          <p:cNvPr id="30" name="Text 4">
            <a:extLst xmlns:a="http://schemas.openxmlformats.org/drawingml/2006/main">
              <a:ext uri="{FF2B5EF4-FFF2-40B4-BE49-F238E27FC236}">
                <a16:creationId xmlns:a16="http://schemas.microsoft.com/office/drawing/2014/main" id="{CA9749C6-32A5-4480-BE80-DA1E91DBAEFE}"/>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Ejemplo didáctico con database/sql y marcador MySQL</a:t>
            </a:r>
          </a:p>
        </p:txBody>
      </p:sp>
      <p:sp>
        <p:nvSpPr>
          <p:cNvPr id="31" name="Text 5">
            <a:extLst xmlns:a="http://schemas.openxmlformats.org/drawingml/2006/main">
              <a:ext uri="{FF2B5EF4-FFF2-40B4-BE49-F238E27FC236}">
                <a16:creationId xmlns:a16="http://schemas.microsoft.com/office/drawing/2014/main" id="{5B14AAF9-E524-4D85-9DF4-9A13E0C90639}"/>
              </a:ext>
            </a:extLst>
          </p:cNvPr>
          <p:cNvSpPr>
            <a:spLocks xmlns:a="http://schemas.openxmlformats.org/drawingml/2006/main" noGrp="1"/>
          </p:cNvSpPr>
          <p:nvPr/>
        </p:nvSpPr>
        <p:spPr>
          <a:xfrm xmlns:a="http://schemas.openxmlformats.org/drawingml/2006/main">
            <a:off x="742950" y="2095500"/>
            <a:ext cx="9810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Vulnerable</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query := "SELECT name FROM users WHERE id = " + input</a:t>
            </a:r>
          </a:p>
          <a:p xmlns:a="http://schemas.openxmlformats.org/drawingml/2006/main">
            <a:r>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Parámetro separado del texto SQL</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query := "SELECT name FROM users WHERE id =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rows, err := db.QueryContext(ctx, query, id)</a:t>
            </a:r>
          </a:p>
          <a:p xmlns:a="http://schemas.openxmlformats.org/drawingml/2006/main">
            <a:r>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Validar el tipo y manejar err antes de consumir rows.</a:t>
            </a:r>
          </a:p>
        </p:txBody>
      </p:sp>
      <p:sp>
        <p:nvSpPr>
          <p:cNvPr id="32" name="Text 6">
            <a:extLst xmlns:a="http://schemas.openxmlformats.org/drawingml/2006/main">
              <a:ext uri="{FF2B5EF4-FFF2-40B4-BE49-F238E27FC236}">
                <a16:creationId xmlns:a16="http://schemas.microsoft.com/office/drawing/2014/main" id="{576D07CE-3024-46FC-9FAD-DFE78B6FC31D}"/>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f1936d603361495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36355BE7-B1D5-4543-9733-411CA0BE3C4D}"/>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21</a:t>
            </a:r>
          </a:p>
        </p:txBody>
      </p:sp>
      <p:sp>
        <p:nvSpPr>
          <p:cNvPr id="28" name="Text 2">
            <a:extLst xmlns:a="http://schemas.openxmlformats.org/drawingml/2006/main">
              <a:ext uri="{FF2B5EF4-FFF2-40B4-BE49-F238E27FC236}">
                <a16:creationId xmlns:a16="http://schemas.microsoft.com/office/drawing/2014/main" id="{0774BC77-F7EE-4386-9FD6-8865106FE80C}"/>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REMEDIACIÓN</a:t>
            </a:r>
          </a:p>
        </p:txBody>
      </p:sp>
      <p:sp>
        <p:nvSpPr>
          <p:cNvPr id="29" name="Text 3">
            <a:extLst xmlns:a="http://schemas.openxmlformats.org/drawingml/2006/main">
              <a:ext uri="{FF2B5EF4-FFF2-40B4-BE49-F238E27FC236}">
                <a16:creationId xmlns:a16="http://schemas.microsoft.com/office/drawing/2014/main" id="{DD449F4D-7657-4278-9687-2B595C33062E}"/>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Consulta preparada en PHP</a:t>
            </a:r>
          </a:p>
        </p:txBody>
      </p:sp>
      <p:sp>
        <p:nvSpPr>
          <p:cNvPr id="30" name="Text 4">
            <a:extLst xmlns:a="http://schemas.openxmlformats.org/drawingml/2006/main">
              <a:ext uri="{FF2B5EF4-FFF2-40B4-BE49-F238E27FC236}">
                <a16:creationId xmlns:a16="http://schemas.microsoft.com/office/drawing/2014/main" id="{8F504A82-B9DF-472E-96AE-209301E34D4B}"/>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Ejemplo de corrección para una entrada POST numérica</a:t>
            </a:r>
          </a:p>
        </p:txBody>
      </p:sp>
      <p:sp>
        <p:nvSpPr>
          <p:cNvPr id="31" name="Text 5">
            <a:extLst xmlns:a="http://schemas.openxmlformats.org/drawingml/2006/main">
              <a:ext uri="{FF2B5EF4-FFF2-40B4-BE49-F238E27FC236}">
                <a16:creationId xmlns:a16="http://schemas.microsoft.com/office/drawing/2014/main" id="{A758F9C5-761C-4EF1-9237-C2303B879B05}"/>
              </a:ext>
            </a:extLst>
          </p:cNvPr>
          <p:cNvSpPr>
            <a:spLocks xmlns:a="http://schemas.openxmlformats.org/drawingml/2006/main" noGrp="1"/>
          </p:cNvSpPr>
          <p:nvPr/>
        </p:nvSpPr>
        <p:spPr>
          <a:xfrm xmlns:a="http://schemas.openxmlformats.org/drawingml/2006/main">
            <a:off x="742950" y="2095500"/>
            <a:ext cx="9810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$id = filter_input(INPUT_POST, 'id', FILTER_VALIDATE_INT);</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if ($id === false || $id === null)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throw new InvalidArgumentException('ID inválido');</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$stmt = $pdo-&gt;prepare(</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'SELECT first_name, last_name FROM users WHERE user_id = :id'</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$stmt-&gt;execute(['id' =&gt; $id]);</a:t>
            </a:r>
          </a:p>
        </p:txBody>
      </p:sp>
      <p:sp>
        <p:nvSpPr>
          <p:cNvPr id="32" name="Text 6">
            <a:extLst xmlns:a="http://schemas.openxmlformats.org/drawingml/2006/main">
              <a:ext uri="{FF2B5EF4-FFF2-40B4-BE49-F238E27FC236}">
                <a16:creationId xmlns:a16="http://schemas.microsoft.com/office/drawing/2014/main" id="{849B8B9D-0336-4E49-84D1-749EA5ADF01F}"/>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8aeda19863f7408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E861FDFF-0AA3-4B36-8A58-5684E6467085}"/>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22</a:t>
            </a:r>
          </a:p>
        </p:txBody>
      </p:sp>
      <p:sp>
        <p:nvSpPr>
          <p:cNvPr id="28" name="Text 2">
            <a:extLst xmlns:a="http://schemas.openxmlformats.org/drawingml/2006/main">
              <a:ext uri="{FF2B5EF4-FFF2-40B4-BE49-F238E27FC236}">
                <a16:creationId xmlns:a16="http://schemas.microsoft.com/office/drawing/2014/main" id="{045424E1-03F5-4484-B3A9-91B316EBD6E2}"/>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DEMO 4</a:t>
            </a:r>
          </a:p>
        </p:txBody>
      </p:sp>
      <p:sp>
        <p:nvSpPr>
          <p:cNvPr id="29" name="Text 3">
            <a:extLst xmlns:a="http://schemas.openxmlformats.org/drawingml/2006/main">
              <a:ext uri="{FF2B5EF4-FFF2-40B4-BE49-F238E27FC236}">
                <a16:creationId xmlns:a16="http://schemas.microsoft.com/office/drawing/2014/main" id="{8888BD6C-2CC9-4D28-B5DA-1B2B87831230}"/>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Evidencia y propuesta de corrección</a:t>
            </a:r>
          </a:p>
        </p:txBody>
      </p:sp>
      <p:sp>
        <p:nvSpPr>
          <p:cNvPr id="30" name="Text 4">
            <a:extLst xmlns:a="http://schemas.openxmlformats.org/drawingml/2006/main">
              <a:ext uri="{FF2B5EF4-FFF2-40B4-BE49-F238E27FC236}">
                <a16:creationId xmlns:a16="http://schemas.microsoft.com/office/drawing/2014/main" id="{4865356B-E782-412C-B9A0-B60528944145}"/>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Pantalla principal: aplicación y editor en paralelo</a:t>
            </a:r>
          </a:p>
        </p:txBody>
      </p:sp>
      <p:sp>
        <p:nvSpPr>
          <p:cNvPr id="31" name="Text 5">
            <a:extLst xmlns:a="http://schemas.openxmlformats.org/drawingml/2006/main">
              <a:ext uri="{FF2B5EF4-FFF2-40B4-BE49-F238E27FC236}">
                <a16:creationId xmlns:a16="http://schemas.microsoft.com/office/drawing/2014/main" id="{BB22B6FE-77D1-4C37-AF28-746DA007BBCE}"/>
              </a:ext>
            </a:extLst>
          </p:cNvPr>
          <p:cNvSpPr>
            <a:spLocks xmlns:a="http://schemas.openxmlformats.org/drawingml/2006/main" noGrp="1"/>
          </p:cNvSpPr>
          <p:nvPr/>
        </p:nvSpPr>
        <p:spPr>
          <a:xfrm xmlns:a="http://schemas.openxmlformats.org/drawingml/2006/main">
            <a:off x="742950" y="21050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70E46"/>
                </a:solidFill>
                <a:latin typeface="Arial"/>
                <a:ea typeface="Arial"/>
                <a:cs typeface="Arial"/>
              </a:defRPr>
            </a:pPr>
            <a:r>
              <a:rPr sz="1875" b="1">
                <a:solidFill>
                  <a:srgbClr val="070E46"/>
                </a:solidFill>
                <a:latin typeface="Arial"/>
                <a:ea typeface="Arial"/>
                <a:cs typeface="Arial"/>
              </a:rPr>
              <a:t>1. Abrir Remediación en el resultado DVWA</a:t>
            </a:r>
          </a:p>
        </p:txBody>
      </p:sp>
      <p:sp>
        <p:nvSpPr>
          <p:cNvPr id="32" name="Text 6">
            <a:extLst xmlns:a="http://schemas.openxmlformats.org/drawingml/2006/main">
              <a:ext uri="{FF2B5EF4-FFF2-40B4-BE49-F238E27FC236}">
                <a16:creationId xmlns:a16="http://schemas.microsoft.com/office/drawing/2014/main" id="{4DB7660B-AE59-4245-9EF7-C44487460271}"/>
              </a:ext>
            </a:extLst>
          </p:cNvPr>
          <p:cNvSpPr>
            <a:spLocks xmlns:a="http://schemas.openxmlformats.org/drawingml/2006/main" noGrp="1"/>
          </p:cNvSpPr>
          <p:nvPr/>
        </p:nvSpPr>
        <p:spPr>
          <a:xfrm xmlns:a="http://schemas.openxmlformats.org/drawingml/2006/main">
            <a:off x="742950" y="27908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2. Localizar GenerateReport en el editor</a:t>
            </a:r>
          </a:p>
        </p:txBody>
      </p:sp>
      <p:sp>
        <p:nvSpPr>
          <p:cNvPr id="33" name="Text 7">
            <a:extLst xmlns:a="http://schemas.openxmlformats.org/drawingml/2006/main">
              <a:ext uri="{FF2B5EF4-FFF2-40B4-BE49-F238E27FC236}">
                <a16:creationId xmlns:a16="http://schemas.microsoft.com/office/drawing/2014/main" id="{C327CA68-3D7D-4B23-941F-CC1B27E2EEB5}"/>
              </a:ext>
            </a:extLst>
          </p:cNvPr>
          <p:cNvSpPr>
            <a:spLocks xmlns:a="http://schemas.openxmlformats.org/drawingml/2006/main" noGrp="1"/>
          </p:cNvSpPr>
          <p:nvPr/>
        </p:nvSpPr>
        <p:spPr>
          <a:xfrm xmlns:a="http://schemas.openxmlformats.org/drawingml/2006/main">
            <a:off x="742950" y="34766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3. Comparar concatenación y consulta preparada</a:t>
            </a:r>
          </a:p>
        </p:txBody>
      </p:sp>
      <p:sp>
        <p:nvSpPr>
          <p:cNvPr id="34" name="Text 8">
            <a:extLst xmlns:a="http://schemas.openxmlformats.org/drawingml/2006/main">
              <a:ext uri="{FF2B5EF4-FFF2-40B4-BE49-F238E27FC236}">
                <a16:creationId xmlns:a16="http://schemas.microsoft.com/office/drawing/2014/main" id="{87D014AC-AF7B-443D-8E95-7301288B6389}"/>
              </a:ext>
            </a:extLst>
          </p:cNvPr>
          <p:cNvSpPr>
            <a:spLocks xmlns:a="http://schemas.openxmlformats.org/drawingml/2006/main" noGrp="1"/>
          </p:cNvSpPr>
          <p:nvPr/>
        </p:nvSpPr>
        <p:spPr>
          <a:xfrm xmlns:a="http://schemas.openxmlformats.org/drawingml/2006/main">
            <a:off x="742950" y="4162425"/>
            <a:ext cx="971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44444"/>
                </a:solidFill>
                <a:latin typeface="Arial"/>
                <a:ea typeface="Arial"/>
                <a:cs typeface="Arial"/>
              </a:defRPr>
            </a:pPr>
            <a:r>
              <a:rPr sz="1875" b="0">
                <a:solidFill>
                  <a:srgbClr val="444444"/>
                </a:solidFill>
                <a:latin typeface="Arial"/>
                <a:ea typeface="Arial"/>
                <a:cs typeface="Arial"/>
              </a:rPr>
              <a:t>4. Proponer una prueba de regresión del endpoint corregido</a:t>
            </a:r>
          </a:p>
        </p:txBody>
      </p:sp>
      <p:sp>
        <p:nvSpPr>
          <p:cNvPr id="35" name="Text 9">
            <a:extLst xmlns:a="http://schemas.openxmlformats.org/drawingml/2006/main">
              <a:ext uri="{FF2B5EF4-FFF2-40B4-BE49-F238E27FC236}">
                <a16:creationId xmlns:a16="http://schemas.microsoft.com/office/drawing/2014/main" id="{3BF22D65-0CF0-4A2D-A961-442710BF30AC}"/>
              </a:ext>
            </a:extLst>
          </p:cNvPr>
          <p:cNvSpPr>
            <a:spLocks xmlns:a="http://schemas.openxmlformats.org/drawingml/2006/main" noGrp="1"/>
          </p:cNvSpPr>
          <p:nvPr/>
        </p:nvSpPr>
        <p:spPr>
          <a:xfrm xmlns:a="http://schemas.openxmlformats.org/drawingml/2006/main">
            <a:off x="742950" y="5219700"/>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70E46"/>
                </a:solidFill>
                <a:latin typeface="Arial"/>
                <a:ea typeface="Arial"/>
                <a:cs typeface="Arial"/>
              </a:defRPr>
            </a:pPr>
            <a:r>
              <a:rPr sz="1500" b="1">
                <a:solidFill>
                  <a:srgbClr val="070E46"/>
                </a:solidFill>
                <a:latin typeface="Arial"/>
                <a:ea typeface="Arial"/>
                <a:cs typeface="Arial"/>
              </a:rPr>
              <a:t>En vivo: navegador y editor</a:t>
            </a:r>
          </a:p>
        </p:txBody>
      </p:sp>
      <p:sp>
        <p:nvSpPr>
          <p:cNvPr id="36" name="Text 10">
            <a:extLst xmlns:a="http://schemas.openxmlformats.org/drawingml/2006/main">
              <a:ext uri="{FF2B5EF4-FFF2-40B4-BE49-F238E27FC236}">
                <a16:creationId xmlns:a16="http://schemas.microsoft.com/office/drawing/2014/main" id="{A2661D42-2B91-4334-833C-9953E0FEFC96}"/>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65e5db43b69b41f1"/>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6FC872B9-9FA0-41B0-B910-4CD3E99EF2C1}"/>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23</a:t>
            </a:r>
          </a:p>
        </p:txBody>
      </p:sp>
      <p:sp>
        <p:nvSpPr>
          <p:cNvPr id="28" name="Text 2">
            <a:extLst xmlns:a="http://schemas.openxmlformats.org/drawingml/2006/main">
              <a:ext uri="{FF2B5EF4-FFF2-40B4-BE49-F238E27FC236}">
                <a16:creationId xmlns:a16="http://schemas.microsoft.com/office/drawing/2014/main" id="{C89FCFB3-7603-485F-B222-69A62ACF1AA3}"/>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COMPROBACIÓN</a:t>
            </a:r>
          </a:p>
        </p:txBody>
      </p:sp>
      <p:sp>
        <p:nvSpPr>
          <p:cNvPr id="29" name="Text 3">
            <a:extLst xmlns:a="http://schemas.openxmlformats.org/drawingml/2006/main">
              <a:ext uri="{FF2B5EF4-FFF2-40B4-BE49-F238E27FC236}">
                <a16:creationId xmlns:a16="http://schemas.microsoft.com/office/drawing/2014/main" id="{CD986B68-7858-43FC-9F32-2264A64037BB}"/>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Pruebas que acompañan la demostración</a:t>
            </a:r>
          </a:p>
        </p:txBody>
      </p:sp>
      <p:sp>
        <p:nvSpPr>
          <p:cNvPr id="30" name="Text 4">
            <a:extLst xmlns:a="http://schemas.openxmlformats.org/drawingml/2006/main">
              <a:ext uri="{FF2B5EF4-FFF2-40B4-BE49-F238E27FC236}">
                <a16:creationId xmlns:a16="http://schemas.microsoft.com/office/drawing/2014/main" id="{DBE9F3CD-133A-49E2-9A31-E0F99913733B}"/>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Comandos para el frontend, el motor y la integración local</a:t>
            </a:r>
          </a:p>
        </p:txBody>
      </p:sp>
      <p:sp>
        <p:nvSpPr>
          <p:cNvPr id="31" name="Text 5">
            <a:extLst xmlns:a="http://schemas.openxmlformats.org/drawingml/2006/main">
              <a:ext uri="{FF2B5EF4-FFF2-40B4-BE49-F238E27FC236}">
                <a16:creationId xmlns:a16="http://schemas.microsoft.com/office/drawing/2014/main" id="{391B5C85-E4D1-427B-B284-85E21B37B592}"/>
              </a:ext>
            </a:extLst>
          </p:cNvPr>
          <p:cNvSpPr>
            <a:spLocks xmlns:a="http://schemas.openxmlformats.org/drawingml/2006/main" noGrp="1"/>
          </p:cNvSpPr>
          <p:nvPr/>
        </p:nvSpPr>
        <p:spPr>
          <a:xfrm xmlns:a="http://schemas.openxmlformats.org/drawingml/2006/main">
            <a:off x="742950" y="2095500"/>
            <a:ext cx="9810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Desde frontend/</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npm run lint</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npm run build</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node --test tests/evidence.test.mjs</a:t>
            </a:r>
          </a:p>
          <a:p xmlns:a="http://schemas.openxmlformats.org/drawingml/2006/main">
            <a:r>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Desde backend/ y luego desde la raíz</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go test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./tests/integration/dvwa.ps1 -Level medium</a:t>
            </a:r>
          </a:p>
        </p:txBody>
      </p:sp>
      <p:sp>
        <p:nvSpPr>
          <p:cNvPr id="32" name="Text 6">
            <a:extLst xmlns:a="http://schemas.openxmlformats.org/drawingml/2006/main">
              <a:ext uri="{FF2B5EF4-FFF2-40B4-BE49-F238E27FC236}">
                <a16:creationId xmlns:a16="http://schemas.microsoft.com/office/drawing/2014/main" id="{1D4BF156-A45A-46A3-913B-C03430D98818}"/>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e933cfd720524c5e"/>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CA09EB91-C96A-4F32-A12F-DC1AB38359C1}"/>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24</a:t>
            </a:r>
          </a:p>
        </p:txBody>
      </p:sp>
      <p:sp>
        <p:nvSpPr>
          <p:cNvPr id="28" name="Text 2">
            <a:extLst xmlns:a="http://schemas.openxmlformats.org/drawingml/2006/main">
              <a:ext uri="{FF2B5EF4-FFF2-40B4-BE49-F238E27FC236}">
                <a16:creationId xmlns:a16="http://schemas.microsoft.com/office/drawing/2014/main" id="{00BACF66-E5CD-454A-8BA6-D0088EDFD3A4}"/>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MEDICIÓN LOCAL</a:t>
            </a:r>
          </a:p>
        </p:txBody>
      </p:sp>
      <p:sp>
        <p:nvSpPr>
          <p:cNvPr id="29" name="Text 3">
            <a:extLst xmlns:a="http://schemas.openxmlformats.org/drawingml/2006/main">
              <a:ext uri="{FF2B5EF4-FFF2-40B4-BE49-F238E27FC236}">
                <a16:creationId xmlns:a16="http://schemas.microsoft.com/office/drawing/2014/main" id="{08DCDAB5-3439-486E-93A6-4C4B3923DB18}"/>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Piloto frente a sqlmap</a:t>
            </a:r>
          </a:p>
        </p:txBody>
      </p:sp>
      <p:sp>
        <p:nvSpPr>
          <p:cNvPr id="30" name="Text 4">
            <a:extLst xmlns:a="http://schemas.openxmlformats.org/drawingml/2006/main">
              <a:ext uri="{FF2B5EF4-FFF2-40B4-BE49-F238E27FC236}">
                <a16:creationId xmlns:a16="http://schemas.microsoft.com/office/drawing/2014/main" id="{76201FE0-A9CD-4BCD-94E1-4121F7A0A5EA}"/>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DVWA Low, misma máquina y tres ejecuciones por herramienta</a:t>
            </a:r>
          </a:p>
        </p:txBody>
      </p:sp>
      <p:graphicFrame>
        <p:nvGraphicFramePr>
          <p:cNvPr id="41" name=""/>
          <p:cNvGraphicFramePr/>
          <p:nvPr/>
        </p:nvGraphicFramePr>
        <p:xfrm>
          <a:off xmlns:a="http://schemas.openxmlformats.org/drawingml/2006/main" x="742950" y="2238375"/>
          <a:ext xmlns:a="http://schemas.openxmlformats.org/drawingml/2006/main" cx="9810750" cy="1714500"/>
        </p:xfrm>
        <a:graphic xmlns:a="http://schemas.openxmlformats.org/drawingml/2006/main">
          <a:graphicData uri="http://schemas.openxmlformats.org/drawingml/2006/table">
            <a:tbl>
              <a:tblPr/>
              <a:tblGrid>
                <a:gridCol w="3270250"/>
                <a:gridCol w="3270250"/>
                <a:gridCol w="3270250"/>
              </a:tblGrid>
              <a:tr h="571500">
                <a:tc>
                  <a:txBody>
                    <a:bodyPr/>
                    <a:lstStyle/>
                    <a:p>
                      <a:r>
                        <a:rPr sz="1575" b="1">
                          <a:solidFill>
                            <a:srgbClr val="FFFFFF"/>
                          </a:solidFill>
                          <a:latin typeface="Arial"/>
                          <a:ea typeface="Arial"/>
                          <a:cs typeface="Arial"/>
                        </a:rPr>
                        <a:t>Herramienta</a:t>
                      </a:r>
                    </a:p>
                  </a:txBody>
                  <a:tcPr marL="114300" marR="114300" marT="95250" marB="76200">
                    <a:solidFill>
                      <a:srgbClr val="070E46"/>
                    </a:solidFill>
                  </a:tcPr>
                </a:tc>
                <a:tc>
                  <a:txBody>
                    <a:bodyPr/>
                    <a:lstStyle/>
                    <a:p>
                      <a:r>
                        <a:rPr sz="1575" b="1">
                          <a:solidFill>
                            <a:srgbClr val="FFFFFF"/>
                          </a:solidFill>
                          <a:latin typeface="Arial"/>
                          <a:ea typeface="Arial"/>
                          <a:cs typeface="Arial"/>
                        </a:rPr>
                        <a:t>Mediana</a:t>
                      </a:r>
                    </a:p>
                  </a:txBody>
                  <a:tcPr marL="114300" marR="114300" marT="95250" marB="76200">
                    <a:solidFill>
                      <a:srgbClr val="070E46"/>
                    </a:solidFill>
                  </a:tcPr>
                </a:tc>
                <a:tc>
                  <a:txBody>
                    <a:bodyPr/>
                    <a:lstStyle/>
                    <a:p>
                      <a:r>
                        <a:rPr sz="1575" b="1">
                          <a:solidFill>
                            <a:srgbClr val="FFFFFF"/>
                          </a:solidFill>
                          <a:latin typeface="Arial"/>
                          <a:ea typeface="Arial"/>
                          <a:cs typeface="Arial"/>
                        </a:rPr>
                        <a:t>Detección booleana</a:t>
                      </a:r>
                    </a:p>
                  </a:txBody>
                  <a:tcPr marL="114300" marR="114300" marT="95250" marB="76200">
                    <a:solidFill>
                      <a:srgbClr val="070E46"/>
                    </a:solidFill>
                  </a:tcPr>
                </a:tc>
              </a:tr>
              <a:tr h="571500">
                <a:tc>
                  <a:txBody>
                    <a:bodyPr/>
                    <a:lstStyle/>
                    <a:p>
                      <a:r>
                        <a:rPr sz="1575">
                          <a:solidFill>
                            <a:srgbClr val="444444"/>
                          </a:solidFill>
                          <a:latin typeface="Arial"/>
                          <a:ea typeface="Arial"/>
                          <a:cs typeface="Arial"/>
                        </a:rPr>
                        <a:t>SQLi Studio</a:t>
                      </a:r>
                    </a:p>
                  </a:txBody>
                  <a:tcPr marL="114300" marR="114300" marT="95250" marB="76200">
                    <a:solidFill>
                      <a:srgbClr val="FFFFFF"/>
                    </a:solidFill>
                  </a:tcPr>
                </a:tc>
                <a:tc>
                  <a:txBody>
                    <a:bodyPr/>
                    <a:lstStyle/>
                    <a:p>
                      <a:r>
                        <a:rPr sz="1575">
                          <a:solidFill>
                            <a:srgbClr val="444444"/>
                          </a:solidFill>
                          <a:latin typeface="Arial"/>
                          <a:ea typeface="Arial"/>
                          <a:cs typeface="Arial"/>
                        </a:rPr>
                        <a:t>0.178 s</a:t>
                      </a:r>
                    </a:p>
                  </a:txBody>
                  <a:tcPr marL="114300" marR="114300" marT="95250" marB="76200">
                    <a:solidFill>
                      <a:srgbClr val="FFFFFF"/>
                    </a:solidFill>
                  </a:tcPr>
                </a:tc>
                <a:tc>
                  <a:txBody>
                    <a:bodyPr/>
                    <a:lstStyle/>
                    <a:p>
                      <a:r>
                        <a:rPr sz="1575">
                          <a:solidFill>
                            <a:srgbClr val="444444"/>
                          </a:solidFill>
                          <a:latin typeface="Arial"/>
                          <a:ea typeface="Arial"/>
                          <a:cs typeface="Arial"/>
                        </a:rPr>
                        <a:t>3 de 3</a:t>
                      </a:r>
                    </a:p>
                  </a:txBody>
                  <a:tcPr marL="114300" marR="114300" marT="95250" marB="76200">
                    <a:solidFill>
                      <a:srgbClr val="FFFFFF"/>
                    </a:solidFill>
                  </a:tcPr>
                </a:tc>
              </a:tr>
              <a:tr h="571500">
                <a:tc>
                  <a:txBody>
                    <a:bodyPr/>
                    <a:lstStyle/>
                    <a:p>
                      <a:r>
                        <a:rPr sz="1575">
                          <a:solidFill>
                            <a:srgbClr val="444444"/>
                          </a:solidFill>
                          <a:latin typeface="Arial"/>
                          <a:ea typeface="Arial"/>
                          <a:cs typeface="Arial"/>
                        </a:rPr>
                        <a:t>sqlmap</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5.525 s</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3 de 3</a:t>
                      </a:r>
                    </a:p>
                  </a:txBody>
                  <a:tcPr marL="114300" marR="114300" marT="95250" marB="76200">
                    <a:lnB w="9525">
                      <a:solidFill>
                        <a:srgbClr val="D6D6D6"/>
                      </a:solidFill>
                    </a:lnB>
                    <a:solidFill>
                      <a:srgbClr val="FFFFFF"/>
                    </a:solidFill>
                  </a:tcPr>
                </a:tc>
              </a:tr>
            </a:tbl>
          </a:graphicData>
        </a:graphic>
      </p:graphicFrame>
      <p:sp>
        <p:nvSpPr>
          <p:cNvPr id="32" name="Text 5">
            <a:extLst xmlns:a="http://schemas.openxmlformats.org/drawingml/2006/main">
              <a:ext uri="{FF2B5EF4-FFF2-40B4-BE49-F238E27FC236}">
                <a16:creationId xmlns:a16="http://schemas.microsoft.com/office/drawing/2014/main" id="{A942C7F1-1AF9-4B05-B6DE-57353888E487}"/>
              </a:ext>
            </a:extLst>
          </p:cNvPr>
          <p:cNvSpPr>
            <a:spLocks xmlns:a="http://schemas.openxmlformats.org/drawingml/2006/main" noGrp="1"/>
          </p:cNvSpPr>
          <p:nvPr/>
        </p:nvSpPr>
        <p:spPr>
          <a:xfrm xmlns:a="http://schemas.openxmlformats.org/drawingml/2006/main">
            <a:off x="742950" y="419100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070E46"/>
                </a:solidFill>
                <a:latin typeface="Arial"/>
                <a:ea typeface="Arial"/>
                <a:cs typeface="Arial"/>
              </a:defRPr>
            </a:pPr>
            <a:r>
              <a:rPr sz="1650" b="1">
                <a:solidFill>
                  <a:srgbClr val="070E46"/>
                </a:solidFill>
                <a:latin typeface="Arial"/>
                <a:ea typeface="Arial"/>
                <a:cs typeface="Arial"/>
              </a:rPr>
              <a:t>Medición guardada del 4 de octubre de 2026</a:t>
            </a:r>
          </a:p>
        </p:txBody>
      </p:sp>
      <p:sp>
        <p:nvSpPr>
          <p:cNvPr id="33" name="Text 6">
            <a:extLst xmlns:a="http://schemas.openxmlformats.org/drawingml/2006/main">
              <a:ext uri="{FF2B5EF4-FFF2-40B4-BE49-F238E27FC236}">
                <a16:creationId xmlns:a16="http://schemas.microsoft.com/office/drawing/2014/main" id="{E71DA07E-B213-4415-A96B-B62B77702F5A}"/>
              </a:ext>
            </a:extLst>
          </p:cNvPr>
          <p:cNvSpPr>
            <a:spLocks xmlns:a="http://schemas.openxmlformats.org/drawingml/2006/main" noGrp="1"/>
          </p:cNvSpPr>
          <p:nvPr/>
        </p:nvSpPr>
        <p:spPr>
          <a:xfrm xmlns:a="http://schemas.openxmlformats.org/drawingml/2006/main">
            <a:off x="742950" y="4686300"/>
            <a:ext cx="9810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Incluye login y detección. Excluye el reporte visual.</a:t>
            </a:r>
          </a:p>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Cobertura y rutas de red distintas. Piloto local, sin ranking general.</a:t>
            </a:r>
          </a:p>
        </p:txBody>
      </p:sp>
      <p:sp>
        <p:nvSpPr>
          <p:cNvPr id="34" name="Text 7">
            <a:extLst xmlns:a="http://schemas.openxmlformats.org/drawingml/2006/main">
              <a:ext uri="{FF2B5EF4-FFF2-40B4-BE49-F238E27FC236}">
                <a16:creationId xmlns:a16="http://schemas.microsoft.com/office/drawing/2014/main" id="{D3BC270A-BFBC-4FD3-88F2-1A7F99B40D13}"/>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Fuente: piloto local en DVWA Low.</a:t>
            </a:r>
          </a:p>
        </p:txBody>
      </p:sp>
    </p:spTree>
    <p:extLst>
      <p:ext uri="{BB962C8B-B14F-4D97-AF65-F5344CB8AC3E}">
        <p14:creationId xmlns:p14="http://schemas.microsoft.com/office/powerpoint/2010/main" val="26651380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7171b657d7c04a1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B2F68D0B-75DD-4AC3-B9AA-D1F005D9DA33}"/>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25</a:t>
            </a:r>
          </a:p>
        </p:txBody>
      </p:sp>
      <p:sp>
        <p:nvSpPr>
          <p:cNvPr id="28" name="Text 2">
            <a:extLst xmlns:a="http://schemas.openxmlformats.org/drawingml/2006/main">
              <a:ext uri="{FF2B5EF4-FFF2-40B4-BE49-F238E27FC236}">
                <a16:creationId xmlns:a16="http://schemas.microsoft.com/office/drawing/2014/main" id="{8493510B-8D6E-42D6-937A-3A41AEC55374}"/>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REPRODUCIBILIDAD</a:t>
            </a:r>
          </a:p>
        </p:txBody>
      </p:sp>
      <p:sp>
        <p:nvSpPr>
          <p:cNvPr id="29" name="Text 3">
            <a:extLst xmlns:a="http://schemas.openxmlformats.org/drawingml/2006/main">
              <a:ext uri="{FF2B5EF4-FFF2-40B4-BE49-F238E27FC236}">
                <a16:creationId xmlns:a16="http://schemas.microsoft.com/office/drawing/2014/main" id="{E0B34A38-3546-494A-AABC-5080C165F32A}"/>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Cómo repetir la comparación</a:t>
            </a:r>
          </a:p>
        </p:txBody>
      </p:sp>
      <p:sp>
        <p:nvSpPr>
          <p:cNvPr id="30" name="Text 4">
            <a:extLst xmlns:a="http://schemas.openxmlformats.org/drawingml/2006/main">
              <a:ext uri="{FF2B5EF4-FFF2-40B4-BE49-F238E27FC236}">
                <a16:creationId xmlns:a16="http://schemas.microsoft.com/office/drawing/2014/main" id="{80CBFF68-BD51-4096-B8B4-42A2F6942BAE}"/>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Una medición necesita un método y condiciones registradas</a:t>
            </a:r>
          </a:p>
        </p:txBody>
      </p:sp>
      <p:sp>
        <p:nvSpPr>
          <p:cNvPr id="31" name="Text 5">
            <a:extLst xmlns:a="http://schemas.openxmlformats.org/drawingml/2006/main">
              <a:ext uri="{FF2B5EF4-FFF2-40B4-BE49-F238E27FC236}">
                <a16:creationId xmlns:a16="http://schemas.microsoft.com/office/drawing/2014/main" id="{ED6D3E70-5751-429E-8496-27D345591206}"/>
              </a:ext>
            </a:extLst>
          </p:cNvPr>
          <p:cNvSpPr>
            <a:spLocks xmlns:a="http://schemas.openxmlformats.org/drawingml/2006/main" noGrp="1"/>
          </p:cNvSpPr>
          <p:nvPr/>
        </p:nvSpPr>
        <p:spPr>
          <a:xfrm xmlns:a="http://schemas.openxmlformats.org/drawingml/2006/main">
            <a:off x="742950" y="2085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Condiciones</a:t>
            </a:r>
          </a:p>
        </p:txBody>
      </p:sp>
      <p:sp>
        <p:nvSpPr>
          <p:cNvPr id="32" name="Text 6">
            <a:extLst xmlns:a="http://schemas.openxmlformats.org/drawingml/2006/main">
              <a:ext uri="{FF2B5EF4-FFF2-40B4-BE49-F238E27FC236}">
                <a16:creationId xmlns:a16="http://schemas.microsoft.com/office/drawing/2014/main" id="{B14610A7-5053-46A8-BBEB-2858219E1524}"/>
              </a:ext>
            </a:extLst>
          </p:cNvPr>
          <p:cNvSpPr>
            <a:spLocks xmlns:a="http://schemas.openxmlformats.org/drawingml/2006/main" noGrp="1"/>
          </p:cNvSpPr>
          <p:nvPr/>
        </p:nvSpPr>
        <p:spPr>
          <a:xfrm xmlns:a="http://schemas.openxmlformats.org/drawingml/2006/main">
            <a:off x="742950" y="2476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DVWA Low, sesiones nuevas, orden alternado y detección sin extracción.</a:t>
            </a:r>
          </a:p>
        </p:txBody>
      </p:sp>
      <p:sp>
        <p:nvSpPr>
          <p:cNvPr id="33" name="Text 7">
            <a:extLst xmlns:a="http://schemas.openxmlformats.org/drawingml/2006/main">
              <a:ext uri="{FF2B5EF4-FFF2-40B4-BE49-F238E27FC236}">
                <a16:creationId xmlns:a16="http://schemas.microsoft.com/office/drawing/2014/main" id="{0927B31E-EC32-4250-B389-339A1FBE1AE5}"/>
              </a:ext>
            </a:extLst>
          </p:cNvPr>
          <p:cNvSpPr>
            <a:spLocks xmlns:a="http://schemas.openxmlformats.org/drawingml/2006/main" noGrp="1"/>
          </p:cNvSpPr>
          <p:nvPr/>
        </p:nvSpPr>
        <p:spPr>
          <a:xfrm xmlns:a="http://schemas.openxmlformats.org/drawingml/2006/main">
            <a:off x="742950" y="3228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Comando local</a:t>
            </a:r>
          </a:p>
        </p:txBody>
      </p:sp>
      <p:sp>
        <p:nvSpPr>
          <p:cNvPr id="34" name="Text 8">
            <a:extLst xmlns:a="http://schemas.openxmlformats.org/drawingml/2006/main">
              <a:ext uri="{FF2B5EF4-FFF2-40B4-BE49-F238E27FC236}">
                <a16:creationId xmlns:a16="http://schemas.microsoft.com/office/drawing/2014/main" id="{248D23E4-F17C-4EE4-8156-E09C9F0ECA65}"/>
              </a:ext>
            </a:extLst>
          </p:cNvPr>
          <p:cNvSpPr>
            <a:spLocks xmlns:a="http://schemas.openxmlformats.org/drawingml/2006/main" noGrp="1"/>
          </p:cNvSpPr>
          <p:nvPr/>
        </p:nvSpPr>
        <p:spPr>
          <a:xfrm xmlns:a="http://schemas.openxmlformats.org/drawingml/2006/main">
            <a:off x="742950" y="3619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python scripts/benchmark_dvwa.py --runs 3</a:t>
            </a:r>
          </a:p>
        </p:txBody>
      </p:sp>
      <p:sp>
        <p:nvSpPr>
          <p:cNvPr id="35" name="Text 9">
            <a:extLst xmlns:a="http://schemas.openxmlformats.org/drawingml/2006/main">
              <a:ext uri="{FF2B5EF4-FFF2-40B4-BE49-F238E27FC236}">
                <a16:creationId xmlns:a16="http://schemas.microsoft.com/office/drawing/2014/main" id="{416FC6EB-C8D9-4329-A0D7-E9E0F46ED84A}"/>
              </a:ext>
            </a:extLst>
          </p:cNvPr>
          <p:cNvSpPr>
            <a:spLocks xmlns:a="http://schemas.openxmlformats.org/drawingml/2006/main" noGrp="1"/>
          </p:cNvSpPr>
          <p:nvPr/>
        </p:nvSpPr>
        <p:spPr>
          <a:xfrm xmlns:a="http://schemas.openxmlformats.org/drawingml/2006/main">
            <a:off x="742950" y="4371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Lectura del resultado</a:t>
            </a:r>
          </a:p>
        </p:txBody>
      </p:sp>
      <p:sp>
        <p:nvSpPr>
          <p:cNvPr id="36" name="Text 10">
            <a:extLst xmlns:a="http://schemas.openxmlformats.org/drawingml/2006/main">
              <a:ext uri="{FF2B5EF4-FFF2-40B4-BE49-F238E27FC236}">
                <a16:creationId xmlns:a16="http://schemas.microsoft.com/office/drawing/2014/main" id="{A489A6DC-D561-4467-A0CE-E2383534F3DB}"/>
              </a:ext>
            </a:extLst>
          </p:cNvPr>
          <p:cNvSpPr>
            <a:spLocks xmlns:a="http://schemas.openxmlformats.org/drawingml/2006/main" noGrp="1"/>
          </p:cNvSpPr>
          <p:nvPr/>
        </p:nvSpPr>
        <p:spPr>
          <a:xfrm xmlns:a="http://schemas.openxmlformats.org/drawingml/2006/main">
            <a:off x="742950" y="4762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Registrar versión, aciertos y tiempos. La cobertura y las rutas de red difieren.</a:t>
            </a:r>
          </a:p>
        </p:txBody>
      </p:sp>
      <p:sp>
        <p:nvSpPr>
          <p:cNvPr id="37" name="Text 11">
            <a:extLst xmlns:a="http://schemas.openxmlformats.org/drawingml/2006/main">
              <a:ext uri="{FF2B5EF4-FFF2-40B4-BE49-F238E27FC236}">
                <a16:creationId xmlns:a16="http://schemas.microsoft.com/office/drawing/2014/main" id="{8ADE7A87-A41C-4CF3-AD2B-D983FEB1A5CF}"/>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b329137e52aa4cf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2B6AAC24-1C64-4DDA-A1BF-4DC089BB1684}"/>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26</a:t>
            </a:r>
          </a:p>
        </p:txBody>
      </p:sp>
      <p:sp>
        <p:nvSpPr>
          <p:cNvPr id="28" name="Text 2">
            <a:extLst xmlns:a="http://schemas.openxmlformats.org/drawingml/2006/main">
              <a:ext uri="{FF2B5EF4-FFF2-40B4-BE49-F238E27FC236}">
                <a16:creationId xmlns:a16="http://schemas.microsoft.com/office/drawing/2014/main" id="{55B65114-5653-4847-B05C-1C74DA02C3FD}"/>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FRONTEND REACT</a:t>
            </a:r>
          </a:p>
        </p:txBody>
      </p:sp>
      <p:sp>
        <p:nvSpPr>
          <p:cNvPr id="29" name="Text 3">
            <a:extLst xmlns:a="http://schemas.openxmlformats.org/drawingml/2006/main">
              <a:ext uri="{FF2B5EF4-FFF2-40B4-BE49-F238E27FC236}">
                <a16:creationId xmlns:a16="http://schemas.microsoft.com/office/drawing/2014/main" id="{E9725B87-8355-4E47-B992-AFF9FBA80971}"/>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Una petición ocupa una fila de log</a:t>
            </a:r>
          </a:p>
        </p:txBody>
      </p:sp>
      <p:sp>
        <p:nvSpPr>
          <p:cNvPr id="30" name="Text 4">
            <a:extLst xmlns:a="http://schemas.openxmlformats.org/drawingml/2006/main">
              <a:ext uri="{FF2B5EF4-FFF2-40B4-BE49-F238E27FC236}">
                <a16:creationId xmlns:a16="http://schemas.microsoft.com/office/drawing/2014/main" id="{EBBE24F7-9275-4BD6-9029-4A94B959BD35}"/>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El inicio y el resultado se agrupan por step_id</a:t>
            </a:r>
          </a:p>
        </p:txBody>
      </p:sp>
      <p:sp>
        <p:nvSpPr>
          <p:cNvPr id="31" name="Text 5">
            <a:extLst xmlns:a="http://schemas.openxmlformats.org/drawingml/2006/main">
              <a:ext uri="{FF2B5EF4-FFF2-40B4-BE49-F238E27FC236}">
                <a16:creationId xmlns:a16="http://schemas.microsoft.com/office/drawing/2014/main" id="{DFB894C3-F518-4060-B6E6-063A33E37F2E}"/>
              </a:ext>
            </a:extLst>
          </p:cNvPr>
          <p:cNvSpPr>
            <a:spLocks xmlns:a="http://schemas.openxmlformats.org/drawingml/2006/main" noGrp="1"/>
          </p:cNvSpPr>
          <p:nvPr/>
        </p:nvSpPr>
        <p:spPr>
          <a:xfrm xmlns:a="http://schemas.openxmlformats.org/drawingml/2006/main">
            <a:off x="742950" y="2095500"/>
            <a:ext cx="9810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if (steps.has(activity.step_id))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entries[steps.get(activity.step_id)] = entry;</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else {</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steps.set(activity.step_id, entries.length);</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    entries.push(entry);</a:t>
            </a:r>
          </a:p>
          <a:p xmlns:a="http://schemas.openxmlformats.org/drawingml/2006/main">
            <a:pPr>
              <a:defRPr sz="1650" b="0">
                <a:solidFill>
                  <a:srgbClr val="070E46"/>
                </a:solidFill>
                <a:latin typeface="Consolas"/>
                <a:ea typeface="Consolas"/>
                <a:cs typeface="Consolas"/>
              </a:defRPr>
            </a:pPr>
            <a:r>
              <a:rPr sz="1650" b="0">
                <a:solidFill>
                  <a:srgbClr val="070E46"/>
                </a:solidFill>
                <a:latin typeface="Consolas"/>
                <a:ea typeface="Consolas"/>
                <a:cs typeface="Consolas"/>
              </a:rPr>
              <a:t>}</a:t>
            </a:r>
          </a:p>
        </p:txBody>
      </p:sp>
      <p:sp>
        <p:nvSpPr>
          <p:cNvPr id="32" name="Text 6">
            <a:extLst xmlns:a="http://schemas.openxmlformats.org/drawingml/2006/main">
              <a:ext uri="{FF2B5EF4-FFF2-40B4-BE49-F238E27FC236}">
                <a16:creationId xmlns:a16="http://schemas.microsoft.com/office/drawing/2014/main" id="{8FC851FE-ABAA-4956-BA2F-D77907C9C6FC}"/>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c79b3316344543eb"/>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EA76A1A2-3432-4BD1-9AFA-42E87CD4AA87}"/>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27</a:t>
            </a:r>
          </a:p>
        </p:txBody>
      </p:sp>
      <p:sp>
        <p:nvSpPr>
          <p:cNvPr id="28" name="Text 2">
            <a:extLst xmlns:a="http://schemas.openxmlformats.org/drawingml/2006/main">
              <a:ext uri="{FF2B5EF4-FFF2-40B4-BE49-F238E27FC236}">
                <a16:creationId xmlns:a16="http://schemas.microsoft.com/office/drawing/2014/main" id="{A1795CC6-4B8F-42D6-9CA1-18EA55F4E221}"/>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CIERRE</a:t>
            </a:r>
          </a:p>
        </p:txBody>
      </p:sp>
      <p:sp>
        <p:nvSpPr>
          <p:cNvPr id="29" name="Text 3">
            <a:extLst xmlns:a="http://schemas.openxmlformats.org/drawingml/2006/main">
              <a:ext uri="{FF2B5EF4-FFF2-40B4-BE49-F238E27FC236}">
                <a16:creationId xmlns:a16="http://schemas.microsoft.com/office/drawing/2014/main" id="{320E76B5-6303-4F52-93CD-F0FF5577264D}"/>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Qué nos llevamos al código diario</a:t>
            </a:r>
          </a:p>
        </p:txBody>
      </p:sp>
      <p:sp>
        <p:nvSpPr>
          <p:cNvPr id="30" name="Text 4">
            <a:extLst xmlns:a="http://schemas.openxmlformats.org/drawingml/2006/main">
              <a:ext uri="{FF2B5EF4-FFF2-40B4-BE49-F238E27FC236}">
                <a16:creationId xmlns:a16="http://schemas.microsoft.com/office/drawing/2014/main" id="{0BD9ACB2-6926-4F6C-A56F-5E60F337EA82}"/>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Discusión abierta</a:t>
            </a:r>
          </a:p>
        </p:txBody>
      </p:sp>
      <p:sp>
        <p:nvSpPr>
          <p:cNvPr id="31" name="Text 5">
            <a:extLst xmlns:a="http://schemas.openxmlformats.org/drawingml/2006/main">
              <a:ext uri="{FF2B5EF4-FFF2-40B4-BE49-F238E27FC236}">
                <a16:creationId xmlns:a16="http://schemas.microsoft.com/office/drawing/2014/main" id="{AFDFDC57-871F-427F-AA06-B0D145C41103}"/>
              </a:ext>
            </a:extLst>
          </p:cNvPr>
          <p:cNvSpPr>
            <a:spLocks xmlns:a="http://schemas.openxmlformats.org/drawingml/2006/main" noGrp="1"/>
          </p:cNvSpPr>
          <p:nvPr/>
        </p:nvSpPr>
        <p:spPr>
          <a:xfrm xmlns:a="http://schemas.openxmlformats.org/drawingml/2006/main">
            <a:off x="742950" y="2085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Detección</a:t>
            </a:r>
          </a:p>
        </p:txBody>
      </p:sp>
      <p:sp>
        <p:nvSpPr>
          <p:cNvPr id="32" name="Text 6">
            <a:extLst xmlns:a="http://schemas.openxmlformats.org/drawingml/2006/main">
              <a:ext uri="{FF2B5EF4-FFF2-40B4-BE49-F238E27FC236}">
                <a16:creationId xmlns:a16="http://schemas.microsoft.com/office/drawing/2014/main" id="{6F7463EB-80A8-4949-8CF1-54282F79F5AF}"/>
              </a:ext>
            </a:extLst>
          </p:cNvPr>
          <p:cNvSpPr>
            <a:spLocks xmlns:a="http://schemas.openxmlformats.org/drawingml/2006/main" noGrp="1"/>
          </p:cNvSpPr>
          <p:nvPr/>
        </p:nvSpPr>
        <p:spPr>
          <a:xfrm xmlns:a="http://schemas.openxmlformats.org/drawingml/2006/main">
            <a:off x="742950" y="2476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Una conclusión necesita una respuesta medible y un criterio explícito.</a:t>
            </a:r>
          </a:p>
        </p:txBody>
      </p:sp>
      <p:sp>
        <p:nvSpPr>
          <p:cNvPr id="33" name="Text 7">
            <a:extLst xmlns:a="http://schemas.openxmlformats.org/drawingml/2006/main">
              <a:ext uri="{FF2B5EF4-FFF2-40B4-BE49-F238E27FC236}">
                <a16:creationId xmlns:a16="http://schemas.microsoft.com/office/drawing/2014/main" id="{A1EE1616-FD22-4C54-911D-697D28F65D6D}"/>
              </a:ext>
            </a:extLst>
          </p:cNvPr>
          <p:cNvSpPr>
            <a:spLocks xmlns:a="http://schemas.openxmlformats.org/drawingml/2006/main" noGrp="1"/>
          </p:cNvSpPr>
          <p:nvPr/>
        </p:nvSpPr>
        <p:spPr>
          <a:xfrm xmlns:a="http://schemas.openxmlformats.org/drawingml/2006/main">
            <a:off x="742950" y="3228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Corrección</a:t>
            </a:r>
          </a:p>
        </p:txBody>
      </p:sp>
      <p:sp>
        <p:nvSpPr>
          <p:cNvPr id="34" name="Text 8">
            <a:extLst xmlns:a="http://schemas.openxmlformats.org/drawingml/2006/main">
              <a:ext uri="{FF2B5EF4-FFF2-40B4-BE49-F238E27FC236}">
                <a16:creationId xmlns:a16="http://schemas.microsoft.com/office/drawing/2014/main" id="{56CC67EB-0AAA-4DF7-8FD3-5778360E28FC}"/>
              </a:ext>
            </a:extLst>
          </p:cNvPr>
          <p:cNvSpPr>
            <a:spLocks xmlns:a="http://schemas.openxmlformats.org/drawingml/2006/main" noGrp="1"/>
          </p:cNvSpPr>
          <p:nvPr/>
        </p:nvSpPr>
        <p:spPr>
          <a:xfrm xmlns:a="http://schemas.openxmlformats.org/drawingml/2006/main">
            <a:off x="742950" y="3619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Los parámetros separan los valores de la estructura de la consulta.</a:t>
            </a:r>
          </a:p>
        </p:txBody>
      </p:sp>
      <p:sp>
        <p:nvSpPr>
          <p:cNvPr id="35" name="Text 9">
            <a:extLst xmlns:a="http://schemas.openxmlformats.org/drawingml/2006/main">
              <a:ext uri="{FF2B5EF4-FFF2-40B4-BE49-F238E27FC236}">
                <a16:creationId xmlns:a16="http://schemas.microsoft.com/office/drawing/2014/main" id="{6B22B568-81EF-4C9D-83FD-BE185A157536}"/>
              </a:ext>
            </a:extLst>
          </p:cNvPr>
          <p:cNvSpPr>
            <a:spLocks xmlns:a="http://schemas.openxmlformats.org/drawingml/2006/main" noGrp="1"/>
          </p:cNvSpPr>
          <p:nvPr/>
        </p:nvSpPr>
        <p:spPr>
          <a:xfrm xmlns:a="http://schemas.openxmlformats.org/drawingml/2006/main">
            <a:off x="742950" y="4371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Pregunta al equipo</a:t>
            </a:r>
          </a:p>
        </p:txBody>
      </p:sp>
      <p:sp>
        <p:nvSpPr>
          <p:cNvPr id="36" name="Text 10">
            <a:extLst xmlns:a="http://schemas.openxmlformats.org/drawingml/2006/main">
              <a:ext uri="{FF2B5EF4-FFF2-40B4-BE49-F238E27FC236}">
                <a16:creationId xmlns:a16="http://schemas.microsoft.com/office/drawing/2014/main" id="{25ECEC90-2BA6-4CB9-A4DD-1807EA445FD2}"/>
              </a:ext>
            </a:extLst>
          </p:cNvPr>
          <p:cNvSpPr>
            <a:spLocks xmlns:a="http://schemas.openxmlformats.org/drawingml/2006/main" noGrp="1"/>
          </p:cNvSpPr>
          <p:nvPr/>
        </p:nvSpPr>
        <p:spPr>
          <a:xfrm xmlns:a="http://schemas.openxmlformats.org/drawingml/2006/main">
            <a:off x="742950" y="4762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¿Qué endpoint de vuestra aplicación necesita esta prueba y una regresión?</a:t>
            </a:r>
          </a:p>
        </p:txBody>
      </p:sp>
      <p:sp>
        <p:nvSpPr>
          <p:cNvPr id="37" name="Text 11">
            <a:extLst xmlns:a="http://schemas.openxmlformats.org/drawingml/2006/main">
              <a:ext uri="{FF2B5EF4-FFF2-40B4-BE49-F238E27FC236}">
                <a16:creationId xmlns:a16="http://schemas.microsoft.com/office/drawing/2014/main" id="{234A9E3E-9A4D-42C1-A6EF-7F4B86C5766E}"/>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667d9e99f565445a"/>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7" name="Text 0">
            <a:extLst xmlns:a="http://schemas.openxmlformats.org/drawingml/2006/main">
              <a:ext uri="{FF2B5EF4-FFF2-40B4-BE49-F238E27FC236}">
                <a16:creationId xmlns:a16="http://schemas.microsoft.com/office/drawing/2014/main" id="{48F99F28-721F-42D9-8928-13CA77D9F348}"/>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28</a:t>
            </a:r>
          </a:p>
        </p:txBody>
      </p:sp>
      <p:sp>
        <p:nvSpPr>
          <p:cNvPr id="28" name="Text 1">
            <a:extLst xmlns:a="http://schemas.openxmlformats.org/drawingml/2006/main">
              <a:ext uri="{FF2B5EF4-FFF2-40B4-BE49-F238E27FC236}">
                <a16:creationId xmlns:a16="http://schemas.microsoft.com/office/drawing/2014/main" id="{D7550FA6-FD9C-4456-BF7A-EB2B4BB4C956}"/>
              </a:ext>
            </a:extLst>
          </p:cNvPr>
          <p:cNvSpPr>
            <a:spLocks xmlns:a="http://schemas.openxmlformats.org/drawingml/2006/main" noGrp="1"/>
          </p:cNvSpPr>
          <p:nvPr/>
        </p:nvSpPr>
        <p:spPr>
          <a:xfrm xmlns:a="http://schemas.openxmlformats.org/drawingml/2006/main">
            <a:off x="1238250" y="581977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SQLi Studio con DVWA</a:t>
            </a:r>
          </a:p>
        </p:txBody>
      </p:sp>
      <p:sp>
        <p:nvSpPr>
          <p:cNvPr id="29" name="Text 2">
            <a:extLst xmlns:a="http://schemas.openxmlformats.org/drawingml/2006/main">
              <a:ext uri="{FF2B5EF4-FFF2-40B4-BE49-F238E27FC236}">
                <a16:creationId xmlns:a16="http://schemas.microsoft.com/office/drawing/2014/main" id="{7046B305-2189-4446-BCAF-886BE3033956}"/>
              </a:ext>
            </a:extLst>
          </p:cNvPr>
          <p:cNvSpPr>
            <a:spLocks xmlns:a="http://schemas.openxmlformats.org/drawingml/2006/main" noGrp="1"/>
          </p:cNvSpPr>
          <p:nvPr/>
        </p:nvSpPr>
        <p:spPr>
          <a:xfrm xmlns:a="http://schemas.openxmlformats.org/drawingml/2006/main">
            <a:off x="1238250" y="6172200"/>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Workshop de 90 minutos para desarrolladores</a:t>
            </a:r>
          </a:p>
        </p:txBody>
      </p:sp>
    </p:spTree>
    <p:extLst>
      <p:ext uri="{BB962C8B-B14F-4D97-AF65-F5344CB8AC3E}">
        <p14:creationId xmlns:p14="http://schemas.microsoft.com/office/powerpoint/2010/main" val="192598842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fd905ca5b7e2469c"/>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D9B6A530-313A-4824-8579-168F90CC2030}"/>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29</a:t>
            </a:r>
          </a:p>
        </p:txBody>
      </p:sp>
      <p:sp>
        <p:nvSpPr>
          <p:cNvPr id="28" name="Text 2">
            <a:extLst xmlns:a="http://schemas.openxmlformats.org/drawingml/2006/main">
              <a:ext uri="{FF2B5EF4-FFF2-40B4-BE49-F238E27FC236}">
                <a16:creationId xmlns:a16="http://schemas.microsoft.com/office/drawing/2014/main" id="{63D457BA-693B-4719-9D3A-2AD76F5CED8F}"/>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ANEXO A</a:t>
            </a:r>
          </a:p>
        </p:txBody>
      </p:sp>
      <p:sp>
        <p:nvSpPr>
          <p:cNvPr id="29" name="Text 3">
            <a:extLst xmlns:a="http://schemas.openxmlformats.org/drawingml/2006/main">
              <a:ext uri="{FF2B5EF4-FFF2-40B4-BE49-F238E27FC236}">
                <a16:creationId xmlns:a16="http://schemas.microsoft.com/office/drawing/2014/main" id="{2AAF3AAB-58C1-4308-AF8C-93C0A79027A1}"/>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Respaldo si una demostración falla</a:t>
            </a:r>
          </a:p>
        </p:txBody>
      </p:sp>
      <p:sp>
        <p:nvSpPr>
          <p:cNvPr id="30" name="Text 4">
            <a:extLst xmlns:a="http://schemas.openxmlformats.org/drawingml/2006/main">
              <a:ext uri="{FF2B5EF4-FFF2-40B4-BE49-F238E27FC236}">
                <a16:creationId xmlns:a16="http://schemas.microsoft.com/office/drawing/2014/main" id="{587B2FBC-76CC-426B-BFFD-40009F665707}"/>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Diagnóstico de conexión, sesión y resultados</a:t>
            </a:r>
          </a:p>
        </p:txBody>
      </p:sp>
      <p:graphicFrame>
        <p:nvGraphicFramePr>
          <p:cNvPr id="39" name=""/>
          <p:cNvGraphicFramePr/>
          <p:nvPr/>
        </p:nvGraphicFramePr>
        <p:xfrm>
          <a:off xmlns:a="http://schemas.openxmlformats.org/drawingml/2006/main" x="742950" y="2085975"/>
          <a:ext xmlns:a="http://schemas.openxmlformats.org/drawingml/2006/main" cx="9810750" cy="3209925"/>
        </p:xfrm>
        <a:graphic xmlns:a="http://schemas.openxmlformats.org/drawingml/2006/main">
          <a:graphicData uri="http://schemas.openxmlformats.org/drawingml/2006/table">
            <a:tbl>
              <a:tblPr/>
              <a:tblGrid>
                <a:gridCol w="2952750"/>
                <a:gridCol w="6858000"/>
              </a:tblGrid>
              <a:tr h="534988">
                <a:tc>
                  <a:txBody>
                    <a:bodyPr/>
                    <a:lstStyle/>
                    <a:p>
                      <a:r>
                        <a:rPr sz="1575" b="1">
                          <a:solidFill>
                            <a:srgbClr val="FFFFFF"/>
                          </a:solidFill>
                          <a:latin typeface="Arial"/>
                          <a:ea typeface="Arial"/>
                          <a:cs typeface="Arial"/>
                        </a:rPr>
                        <a:t>Síntoma</a:t>
                      </a:r>
                    </a:p>
                  </a:txBody>
                  <a:tcPr marL="114300" marR="114300" marT="95250" marB="76200">
                    <a:solidFill>
                      <a:srgbClr val="070E46"/>
                    </a:solidFill>
                  </a:tcPr>
                </a:tc>
                <a:tc>
                  <a:txBody>
                    <a:bodyPr/>
                    <a:lstStyle/>
                    <a:p>
                      <a:r>
                        <a:rPr sz="1575" b="1">
                          <a:solidFill>
                            <a:srgbClr val="FFFFFF"/>
                          </a:solidFill>
                          <a:latin typeface="Arial"/>
                          <a:ea typeface="Arial"/>
                          <a:cs typeface="Arial"/>
                        </a:rPr>
                        <a:t>Comprobación</a:t>
                      </a:r>
                    </a:p>
                  </a:txBody>
                  <a:tcPr marL="114300" marR="114300" marT="95250" marB="76200">
                    <a:solidFill>
                      <a:srgbClr val="070E46"/>
                    </a:solidFill>
                  </a:tcPr>
                </a:tc>
              </a:tr>
              <a:tr h="534988">
                <a:tc>
                  <a:txBody>
                    <a:bodyPr/>
                    <a:lstStyle/>
                    <a:p>
                      <a:r>
                        <a:rPr sz="1575">
                          <a:solidFill>
                            <a:srgbClr val="444444"/>
                          </a:solidFill>
                          <a:latin typeface="Arial"/>
                          <a:ea typeface="Arial"/>
                          <a:cs typeface="Arial"/>
                        </a:rPr>
                        <a:t>Backend no responde</a:t>
                      </a:r>
                    </a:p>
                  </a:txBody>
                  <a:tcPr marL="114300" marR="114300" marT="95250" marB="76200">
                    <a:solidFill>
                      <a:srgbClr val="FFFFFF"/>
                    </a:solidFill>
                  </a:tcPr>
                </a:tc>
                <a:tc>
                  <a:txBody>
                    <a:bodyPr/>
                    <a:lstStyle/>
                    <a:p>
                      <a:r>
                        <a:rPr sz="1575">
                          <a:solidFill>
                            <a:srgbClr val="444444"/>
                          </a:solidFill>
                          <a:latin typeface="Arial"/>
                          <a:ea typeface="Arial"/>
                          <a:cs typeface="Arial"/>
                        </a:rPr>
                        <a:t>GET localhost:8080/health y docker compose ps</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DVWA no tiene sesión</a:t>
                      </a:r>
                    </a:p>
                  </a:txBody>
                  <a:tcPr marL="114300" marR="114300" marT="95250" marB="76200">
                    <a:solidFill>
                      <a:srgbClr val="FFFFFF"/>
                    </a:solidFill>
                  </a:tcPr>
                </a:tc>
                <a:tc>
                  <a:txBody>
                    <a:bodyPr/>
                    <a:lstStyle/>
                    <a:p>
                      <a:r>
                        <a:rPr sz="1575">
                          <a:solidFill>
                            <a:srgbClr val="444444"/>
                          </a:solidFill>
                          <a:latin typeface="Arial"/>
                          <a:ea typeface="Arial"/>
                          <a:cs typeface="Arial"/>
                        </a:rPr>
                        <a:t>Login, CSRF, nivel y estado de dvwa-init</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URL del host desde Docker</a:t>
                      </a:r>
                    </a:p>
                  </a:txBody>
                  <a:tcPr marL="114300" marR="114300" marT="95250" marB="76200">
                    <a:solidFill>
                      <a:srgbClr val="FFFFFF"/>
                    </a:solidFill>
                  </a:tcPr>
                </a:tc>
                <a:tc>
                  <a:txBody>
                    <a:bodyPr/>
                    <a:lstStyle/>
                    <a:p>
                      <a:r>
                        <a:rPr sz="1575">
                          <a:solidFill>
                            <a:srgbClr val="444444"/>
                          </a:solidFill>
                          <a:latin typeface="Arial"/>
                          <a:ea typeface="Arial"/>
                          <a:cs typeface="Arial"/>
                        </a:rPr>
                        <a:t>Usar host.docker.internal y el puerto del servicio</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HTTP bloqueado o timeout</a:t>
                      </a:r>
                    </a:p>
                  </a:txBody>
                  <a:tcPr marL="114300" marR="114300" marT="95250" marB="76200">
                    <a:solidFill>
                      <a:srgbClr val="FFFFFF"/>
                    </a:solidFill>
                  </a:tcPr>
                </a:tc>
                <a:tc>
                  <a:txBody>
                    <a:bodyPr/>
                    <a:lstStyle/>
                    <a:p>
                      <a:r>
                        <a:rPr sz="1575">
                          <a:solidFill>
                            <a:srgbClr val="444444"/>
                          </a:solidFill>
                          <a:latin typeface="Arial"/>
                          <a:ea typeface="Arial"/>
                          <a:cs typeface="Arial"/>
                        </a:rPr>
                        <a:t>Leer SCAN_FAILED y conservar la evidencia parcial</a:t>
                      </a:r>
                    </a:p>
                  </a:txBody>
                  <a:tcPr marL="114300" marR="114300" marT="95250" marB="76200">
                    <a:solidFill>
                      <a:srgbClr val="FFFFFF"/>
                    </a:solidFill>
                  </a:tcPr>
                </a:tc>
              </a:tr>
              <a:tr h="534988">
                <a:tc>
                  <a:txBody>
                    <a:bodyPr/>
                    <a:lstStyle/>
                    <a:p>
                      <a:r>
                        <a:rPr sz="1575">
                          <a:solidFill>
                            <a:srgbClr val="444444"/>
                          </a:solidFill>
                          <a:latin typeface="Arial"/>
                          <a:ea typeface="Arial"/>
                          <a:cs typeface="Arial"/>
                        </a:rPr>
                        <a:t>Sin navegador o sin red</a:t>
                      </a:r>
                    </a:p>
                  </a:txBody>
                  <a:tcPr marL="114300" marR="114300" marT="95250" marB="76200">
                    <a:lnB w="9525">
                      <a:solidFill>
                        <a:srgbClr val="D6D6D6"/>
                      </a:solidFill>
                    </a:lnB>
                    <a:solidFill>
                      <a:srgbClr val="FFFFFF"/>
                    </a:solidFill>
                  </a:tcPr>
                </a:tc>
                <a:tc>
                  <a:txBody>
                    <a:bodyPr/>
                    <a:lstStyle/>
                    <a:p>
                      <a:r>
                        <a:rPr sz="1575">
                          <a:solidFill>
                            <a:srgbClr val="444444"/>
                          </a:solidFill>
                          <a:latin typeface="Arial"/>
                          <a:ea typeface="Arial"/>
                          <a:cs typeface="Arial"/>
                        </a:rPr>
                        <a:t>Usar capturas reales de las diapositivas 9 y 17</a:t>
                      </a:r>
                    </a:p>
                  </a:txBody>
                  <a:tcPr marL="114300" marR="114300" marT="95250" marB="76200">
                    <a:lnB w="9525">
                      <a:solidFill>
                        <a:srgbClr val="D6D6D6"/>
                      </a:solidFill>
                    </a:lnB>
                    <a:solidFill>
                      <a:srgbClr val="FFFFFF"/>
                    </a:solidFill>
                  </a:tcPr>
                </a:tc>
              </a:tr>
            </a:tbl>
          </a:graphicData>
        </a:graphic>
      </p:graphicFrame>
      <p:sp>
        <p:nvSpPr>
          <p:cNvPr id="32" name="Text 5">
            <a:extLst xmlns:a="http://schemas.openxmlformats.org/drawingml/2006/main">
              <a:ext uri="{FF2B5EF4-FFF2-40B4-BE49-F238E27FC236}">
                <a16:creationId xmlns:a16="http://schemas.microsoft.com/office/drawing/2014/main" id="{62F9E60D-EE99-454B-B65D-FFDE2966AD4F}"/>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fed81ccc53394a6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83FC9DBA-5A7F-450A-AB9F-C932E84A61AD}"/>
              </a:ext>
            </a:extLst>
          </p:cNvPr>
          <p:cNvSpPr>
            <a:spLocks xmlns:a="http://schemas.openxmlformats.org/drawingml/2006/main" noGrp="1"/>
          </p:cNvSpPr>
          <p:nvPr/>
        </p:nvSpPr>
        <p:spPr>
          <a:xfrm xmlns:a="http://schemas.openxmlformats.org/drawingml/2006/main">
            <a:off x="658368" y="1783080"/>
            <a:ext cx="9966960" cy="0"/>
          </a:xfrm>
          <a:prstGeom xmlns:a="http://schemas.openxmlformats.org/drawingml/2006/main" prst="line">
            <a:avLst/>
          </a:prstGeom>
          <a:noFill xmlns:a="http://schemas.openxmlformats.org/drawingml/2006/main"/>
          <a:ln xmlns:a="http://schemas.openxmlformats.org/drawingml/2006/main" w="13970">
            <a:solidFill>
              <a:srgbClr val="FF4C39">
                <a:alpha val="92000"/>
              </a:srgbClr>
            </a:solidFill>
            <a:prstDash val="solid"/>
          </a:ln>
        </p:spPr>
      </p:sp>
      <p:sp>
        <p:nvSpPr>
          <p:cNvPr id="27" name="Text 1">
            <a:extLst xmlns:a="http://schemas.openxmlformats.org/drawingml/2006/main">
              <a:ext uri="{FF2B5EF4-FFF2-40B4-BE49-F238E27FC236}">
                <a16:creationId xmlns:a16="http://schemas.microsoft.com/office/drawing/2014/main" id="{364ABB38-8BB5-46E6-A972-F3A698BAF4BD}"/>
              </a:ext>
            </a:extLst>
          </p:cNvPr>
          <p:cNvSpPr>
            <a:spLocks xmlns:a="http://schemas.openxmlformats.org/drawingml/2006/main" noGrp="1"/>
          </p:cNvSpPr>
          <p:nvPr/>
        </p:nvSpPr>
        <p:spPr>
          <a:xfrm xmlns:a="http://schemas.openxmlformats.org/drawingml/2006/main">
            <a:off x="11068050" y="6448425"/>
            <a:ext cx="733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30</a:t>
            </a:r>
          </a:p>
        </p:txBody>
      </p:sp>
      <p:sp>
        <p:nvSpPr>
          <p:cNvPr id="28" name="Text 2">
            <a:extLst xmlns:a="http://schemas.openxmlformats.org/drawingml/2006/main">
              <a:ext uri="{FF2B5EF4-FFF2-40B4-BE49-F238E27FC236}">
                <a16:creationId xmlns:a16="http://schemas.microsoft.com/office/drawing/2014/main" id="{FBF367D5-685B-4CB2-B611-DB37BD52FEAF}"/>
              </a:ext>
            </a:extLst>
          </p:cNvPr>
          <p:cNvSpPr>
            <a:spLocks xmlns:a="http://schemas.openxmlformats.org/drawingml/2006/main" noGrp="1"/>
          </p:cNvSpPr>
          <p:nvPr/>
        </p:nvSpPr>
        <p:spPr>
          <a:xfrm xmlns:a="http://schemas.openxmlformats.org/drawingml/2006/main">
            <a:off x="657225" y="666750"/>
            <a:ext cx="904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1">
                <a:solidFill>
                  <a:srgbClr val="004CFF"/>
                </a:solidFill>
                <a:latin typeface="Arial"/>
                <a:ea typeface="Arial"/>
                <a:cs typeface="Arial"/>
              </a:defRPr>
            </a:pPr>
            <a:r>
              <a:rPr sz="900" b="1">
                <a:solidFill>
                  <a:srgbClr val="004CFF"/>
                </a:solidFill>
                <a:latin typeface="Arial"/>
                <a:ea typeface="Arial"/>
                <a:cs typeface="Arial"/>
              </a:rPr>
              <a:t>ANEXO B</a:t>
            </a:r>
          </a:p>
        </p:txBody>
      </p:sp>
      <p:sp>
        <p:nvSpPr>
          <p:cNvPr id="29" name="Text 3">
            <a:extLst xmlns:a="http://schemas.openxmlformats.org/drawingml/2006/main">
              <a:ext uri="{FF2B5EF4-FFF2-40B4-BE49-F238E27FC236}">
                <a16:creationId xmlns:a16="http://schemas.microsoft.com/office/drawing/2014/main" id="{AFD5491C-C29E-4915-B90E-A5FCCB4A4890}"/>
              </a:ext>
            </a:extLst>
          </p:cNvPr>
          <p:cNvSpPr>
            <a:spLocks xmlns:a="http://schemas.openxmlformats.org/drawingml/2006/main" noGrp="1"/>
          </p:cNvSpPr>
          <p:nvPr/>
        </p:nvSpPr>
        <p:spPr>
          <a:xfrm xmlns:a="http://schemas.openxmlformats.org/drawingml/2006/main">
            <a:off x="657225" y="895350"/>
            <a:ext cx="9953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70E46"/>
                </a:solidFill>
                <a:latin typeface="Arial"/>
                <a:ea typeface="Arial"/>
                <a:cs typeface="Arial"/>
              </a:defRPr>
            </a:pPr>
            <a:r>
              <a:rPr sz="2400" b="1">
                <a:solidFill>
                  <a:srgbClr val="070E46"/>
                </a:solidFill>
                <a:latin typeface="Arial"/>
                <a:ea typeface="Arial"/>
                <a:cs typeface="Arial"/>
              </a:rPr>
              <a:t>Fuentes y puntos de entrada</a:t>
            </a:r>
          </a:p>
        </p:txBody>
      </p:sp>
      <p:sp>
        <p:nvSpPr>
          <p:cNvPr id="30" name="Text 4">
            <a:extLst xmlns:a="http://schemas.openxmlformats.org/drawingml/2006/main">
              <a:ext uri="{FF2B5EF4-FFF2-40B4-BE49-F238E27FC236}">
                <a16:creationId xmlns:a16="http://schemas.microsoft.com/office/drawing/2014/main" id="{FF8136CD-01BB-4C6D-B184-8DAE7CD465ED}"/>
              </a:ext>
            </a:extLst>
          </p:cNvPr>
          <p:cNvSpPr>
            <a:spLocks xmlns:a="http://schemas.openxmlformats.org/drawingml/2006/main" noGrp="1"/>
          </p:cNvSpPr>
          <p:nvPr/>
        </p:nvSpPr>
        <p:spPr>
          <a:xfrm xmlns:a="http://schemas.openxmlformats.org/drawingml/2006/main">
            <a:off x="657225" y="14573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444444"/>
                </a:solidFill>
                <a:latin typeface="Arial"/>
                <a:ea typeface="Arial"/>
                <a:cs typeface="Arial"/>
              </a:defRPr>
            </a:pPr>
            <a:r>
              <a:rPr sz="1200" b="0">
                <a:solidFill>
                  <a:srgbClr val="444444"/>
                </a:solidFill>
                <a:latin typeface="Arial"/>
                <a:ea typeface="Arial"/>
                <a:cs typeface="Arial"/>
              </a:rPr>
              <a:t>La guía del expositor contiene pasos y rutas para cada cambio de pantalla</a:t>
            </a:r>
          </a:p>
        </p:txBody>
      </p:sp>
      <p:sp>
        <p:nvSpPr>
          <p:cNvPr id="31" name="Text 5">
            <a:extLst xmlns:a="http://schemas.openxmlformats.org/drawingml/2006/main">
              <a:ext uri="{FF2B5EF4-FFF2-40B4-BE49-F238E27FC236}">
                <a16:creationId xmlns:a16="http://schemas.microsoft.com/office/drawing/2014/main" id="{3CE5312D-E482-42F0-9D5D-67566D5BD12A}"/>
              </a:ext>
            </a:extLst>
          </p:cNvPr>
          <p:cNvSpPr>
            <a:spLocks xmlns:a="http://schemas.openxmlformats.org/drawingml/2006/main" noGrp="1"/>
          </p:cNvSpPr>
          <p:nvPr/>
        </p:nvSpPr>
        <p:spPr>
          <a:xfrm xmlns:a="http://schemas.openxmlformats.org/drawingml/2006/main">
            <a:off x="742950" y="2085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Proyecto</a:t>
            </a:r>
          </a:p>
        </p:txBody>
      </p:sp>
      <p:sp>
        <p:nvSpPr>
          <p:cNvPr id="32" name="Text 6">
            <a:extLst xmlns:a="http://schemas.openxmlformats.org/drawingml/2006/main">
              <a:ext uri="{FF2B5EF4-FFF2-40B4-BE49-F238E27FC236}">
                <a16:creationId xmlns:a16="http://schemas.microsoft.com/office/drawing/2014/main" id="{B11C01C2-5030-40F3-AF1C-FC7A03B54363}"/>
              </a:ext>
            </a:extLst>
          </p:cNvPr>
          <p:cNvSpPr>
            <a:spLocks xmlns:a="http://schemas.openxmlformats.org/drawingml/2006/main" noGrp="1"/>
          </p:cNvSpPr>
          <p:nvPr/>
        </p:nvSpPr>
        <p:spPr>
          <a:xfrm xmlns:a="http://schemas.openxmlformats.org/drawingml/2006/main">
            <a:off x="742950" y="2476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README.md, compose.yaml y docs/authorized-http-tests.md</a:t>
            </a:r>
          </a:p>
        </p:txBody>
      </p:sp>
      <p:sp>
        <p:nvSpPr>
          <p:cNvPr id="33" name="Text 7">
            <a:extLst xmlns:a="http://schemas.openxmlformats.org/drawingml/2006/main">
              <a:ext uri="{FF2B5EF4-FFF2-40B4-BE49-F238E27FC236}">
                <a16:creationId xmlns:a16="http://schemas.microsoft.com/office/drawing/2014/main" id="{314A3381-8A92-4821-B3FD-E5E3BC6B47FC}"/>
              </a:ext>
            </a:extLst>
          </p:cNvPr>
          <p:cNvSpPr>
            <a:spLocks xmlns:a="http://schemas.openxmlformats.org/drawingml/2006/main" noGrp="1"/>
          </p:cNvSpPr>
          <p:nvPr/>
        </p:nvSpPr>
        <p:spPr>
          <a:xfrm xmlns:a="http://schemas.openxmlformats.org/drawingml/2006/main">
            <a:off x="742950" y="3228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Motor y pantalla</a:t>
            </a:r>
          </a:p>
        </p:txBody>
      </p:sp>
      <p:sp>
        <p:nvSpPr>
          <p:cNvPr id="34" name="Text 8">
            <a:extLst xmlns:a="http://schemas.openxmlformats.org/drawingml/2006/main">
              <a:ext uri="{FF2B5EF4-FFF2-40B4-BE49-F238E27FC236}">
                <a16:creationId xmlns:a16="http://schemas.microsoft.com/office/drawing/2014/main" id="{C534EE3C-FD10-4B37-BBE8-75F610A384B5}"/>
              </a:ext>
            </a:extLst>
          </p:cNvPr>
          <p:cNvSpPr>
            <a:spLocks xmlns:a="http://schemas.openxmlformats.org/drawingml/2006/main" noGrp="1"/>
          </p:cNvSpPr>
          <p:nvPr/>
        </p:nvSpPr>
        <p:spPr>
          <a:xfrm xmlns:a="http://schemas.openxmlformats.org/drawingml/2006/main">
            <a:off x="742950" y="3619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scanner/dvwa.go, scanner/authorized.go y frontend/src/App.jsx</a:t>
            </a:r>
          </a:p>
        </p:txBody>
      </p:sp>
      <p:sp>
        <p:nvSpPr>
          <p:cNvPr id="35" name="Text 9">
            <a:extLst xmlns:a="http://schemas.openxmlformats.org/drawingml/2006/main">
              <a:ext uri="{FF2B5EF4-FFF2-40B4-BE49-F238E27FC236}">
                <a16:creationId xmlns:a16="http://schemas.microsoft.com/office/drawing/2014/main" id="{9D064EC1-C50D-471B-93E1-C0D8A5028A07}"/>
              </a:ext>
            </a:extLst>
          </p:cNvPr>
          <p:cNvSpPr>
            <a:spLocks xmlns:a="http://schemas.openxmlformats.org/drawingml/2006/main" noGrp="1"/>
          </p:cNvSpPr>
          <p:nvPr/>
        </p:nvSpPr>
        <p:spPr>
          <a:xfrm xmlns:a="http://schemas.openxmlformats.org/drawingml/2006/main">
            <a:off x="742950" y="437197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70E46"/>
                </a:solidFill>
                <a:latin typeface="Arial"/>
                <a:ea typeface="Arial"/>
                <a:cs typeface="Arial"/>
              </a:defRPr>
            </a:pPr>
            <a:r>
              <a:rPr sz="1800" b="1">
                <a:solidFill>
                  <a:srgbClr val="070E46"/>
                </a:solidFill>
                <a:latin typeface="Arial"/>
                <a:ea typeface="Arial"/>
                <a:cs typeface="Arial"/>
              </a:rPr>
              <a:t>Referencias</a:t>
            </a:r>
          </a:p>
        </p:txBody>
      </p:sp>
      <p:sp>
        <p:nvSpPr>
          <p:cNvPr id="36" name="Text 10">
            <a:extLst xmlns:a="http://schemas.openxmlformats.org/drawingml/2006/main">
              <a:ext uri="{FF2B5EF4-FFF2-40B4-BE49-F238E27FC236}">
                <a16:creationId xmlns:a16="http://schemas.microsoft.com/office/drawing/2014/main" id="{BD94CA74-C33F-4DC4-BEEC-AAF423886301}"/>
              </a:ext>
            </a:extLst>
          </p:cNvPr>
          <p:cNvSpPr>
            <a:spLocks xmlns:a="http://schemas.openxmlformats.org/drawingml/2006/main" noGrp="1"/>
          </p:cNvSpPr>
          <p:nvPr/>
        </p:nvSpPr>
        <p:spPr>
          <a:xfrm xmlns:a="http://schemas.openxmlformats.org/drawingml/2006/main">
            <a:off x="742950" y="47625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44444"/>
                </a:solidFill>
                <a:latin typeface="Arial"/>
                <a:ea typeface="Arial"/>
                <a:cs typeface="Arial"/>
              </a:defRPr>
            </a:pPr>
            <a:r>
              <a:rPr sz="1650" b="0">
                <a:solidFill>
                  <a:srgbClr val="444444"/>
                </a:solidFill>
                <a:latin typeface="Arial"/>
                <a:ea typeface="Arial"/>
                <a:cs typeface="Arial"/>
              </a:rPr>
              <a:t>DVWA oficial, Go: SQL injection y OWASP: SQL Injection Prevention</a:t>
            </a:r>
          </a:p>
        </p:txBody>
      </p:sp>
      <p:sp>
        <p:nvSpPr>
          <p:cNvPr id="37" name="Text 11">
            <a:extLst xmlns:a="http://schemas.openxmlformats.org/drawingml/2006/main">
              <a:ext uri="{FF2B5EF4-FFF2-40B4-BE49-F238E27FC236}">
                <a16:creationId xmlns:a16="http://schemas.microsoft.com/office/drawing/2014/main" id="{33E1EE3E-D7DD-4D3D-978D-99E0C4402133}"/>
              </a:ext>
            </a:extLst>
          </p:cNvPr>
          <p:cNvSpPr>
            <a:spLocks xmlns:a="http://schemas.openxmlformats.org/drawingml/2006/main" noGrp="1"/>
          </p:cNvSpPr>
          <p:nvPr/>
        </p:nvSpPr>
        <p:spPr>
          <a:xfrm xmlns:a="http://schemas.openxmlformats.org/drawingml/2006/main">
            <a:off x="742950" y="60198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666666"/>
                </a:solidFill>
                <a:latin typeface="Arial"/>
                <a:ea typeface="Arial"/>
                <a:cs typeface="Arial"/>
              </a:defRPr>
            </a:pPr>
            <a:r>
              <a:rPr sz="1050" b="0">
                <a:solidFill>
                  <a:srgbClr val="666666"/>
                </a:solidFill>
                <a:latin typeface="Arial"/>
                <a:ea typeface="Arial"/>
                <a:cs typeface="Arial"/>
              </a:rPr>
              <a:t>SQLi Studio con DVWA</a:t>
            </a:r>
          </a:p>
        </p:txBody>
      </p:sp>
    </p:spTree>
    <p:extLst>
      <p:ext uri="{BB962C8B-B14F-4D97-AF65-F5344CB8AC3E}">
        <p14:creationId xmlns:p14="http://schemas.microsoft.com/office/powerpoint/2010/main" val="26651380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2026-10-05T01:32:21.8790000Z</dcterms:created>
  <dcterms:modified xsi:type="dcterms:W3CDTF">2026-10-05T01:32:21.8790000Z</dcterms:modified>
</coreProperties>
</file>